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embeddedFontLst>
    <p:embeddedFont>
      <p:font typeface="Helvetica Neue Light" panose="020B0604020202020204" charset="0"/>
      <p:regular r:id="rId23"/>
      <p:bold r:id="rId24"/>
      <p:italic r:id="rId25"/>
      <p:boldItalic r:id="rId26"/>
    </p:embeddedFont>
    <p:embeddedFont>
      <p:font typeface="Anton" panose="020B0604020202020204" charset="0"/>
      <p:regular r:id="rId27"/>
    </p:embeddedFont>
    <p:embeddedFont>
      <p:font typeface="Helvetica Neue" panose="020B0604020202020204" charset="0"/>
      <p:regular r:id="rId28"/>
      <p:bold r:id="rId29"/>
      <p:italic r:id="rId30"/>
      <p:boldItalic r:id="rId31"/>
    </p:embeddedFont>
    <p:embeddedFont>
      <p:font typeface="Calibri" panose="020F0502020204030204" pitchFamily="34" charset="0"/>
      <p:regular r:id="rId32"/>
      <p:bold r:id="rId33"/>
      <p:italic r:id="rId34"/>
      <p:boldItalic r:id="rId35"/>
    </p:embeddedFont>
    <p:embeddedFont>
      <p:font typeface="DM Sans" panose="020B060402020202020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2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19.xml"/><Relationship Id="rId34" Type="http://schemas.openxmlformats.org/officeDocument/2006/relationships/font" Target="fonts/font12.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80077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6450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44407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ebb98a082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25ebb98a082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25ebb98a082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65088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86484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5e08ea6cf4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g25e08ea6cf4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g25e08ea6cf4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85464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5d76dc6b60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25d76dc6b60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25d76dc6b60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533639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5ebb98a08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25ebb98a08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25ebb98a08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56299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18413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5e9e5d3d95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25e9e5d3d95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g25e9e5d3d95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53464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5e9e5d3d95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g25e9e5d3d95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25e9e5d3d95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61283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5ebb98a082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25ebb98a082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g25ebb98a082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47583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5e9e5d3d95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25e9e5d3d95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g25e9e5d3d95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067535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677321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5e9e5d3d95_0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5e9e5d3d95_0_5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g25e9e5d3d95_0_5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11351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5e9e5d3d95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25e9e5d3d95_0_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25e9e5d3d95_0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95422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5e9e5d3d95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g25e9e5d3d95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g25e9e5d3d95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03374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66241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5ebb98a082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25ebb98a082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g25ebb98a082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56810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5ebb98a082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25ebb98a082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g25ebb98a082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4044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3_Custom Layout">
  <p:cSld name="33_Custom Layout">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1"/>
          <p:cNvSpPr>
            <a:spLocks noGrp="1"/>
          </p:cNvSpPr>
          <p:nvPr>
            <p:ph type="pic" idx="2"/>
          </p:nvPr>
        </p:nvSpPr>
        <p:spPr>
          <a:xfrm>
            <a:off x="5183188" y="987425"/>
            <a:ext cx="6172200" cy="4873625"/>
          </a:xfrm>
          <a:prstGeom prst="rect">
            <a:avLst/>
          </a:prstGeom>
          <a:noFill/>
          <a:ln>
            <a:noFill/>
          </a:ln>
        </p:spPr>
      </p:sp>
      <p:sp>
        <p:nvSpPr>
          <p:cNvPr id="69" name="Google Shape;69;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5"/>
        <p:cNvGrpSpPr/>
        <p:nvPr/>
      </p:nvGrpSpPr>
      <p:grpSpPr>
        <a:xfrm>
          <a:off x="0" y="0"/>
          <a:ext cx="0" cy="0"/>
          <a:chOff x="0" y="0"/>
          <a:chExt cx="0" cy="0"/>
        </a:xfrm>
      </p:grpSpPr>
      <p:sp>
        <p:nvSpPr>
          <p:cNvPr id="86" name="Google Shape;86;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3_Custom Layout">
  <p:cSld name="33_Custom Layout">
    <p:spTree>
      <p:nvGrpSpPr>
        <p:cNvPr id="1" name="Shape 8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9"/>
        <p:cNvGrpSpPr/>
        <p:nvPr/>
      </p:nvGrpSpPr>
      <p:grpSpPr>
        <a:xfrm>
          <a:off x="0" y="0"/>
          <a:ext cx="0" cy="0"/>
          <a:chOff x="0" y="0"/>
          <a:chExt cx="0" cy="0"/>
        </a:xfrm>
      </p:grpSpPr>
      <p:sp>
        <p:nvSpPr>
          <p:cNvPr id="90" name="Google Shape;9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‹Nº›</a:t>
            </a:fld>
            <a:endParaRPr/>
          </a:p>
        </p:txBody>
      </p:sp>
      <p:sp>
        <p:nvSpPr>
          <p:cNvPr id="93" name="Google Shape;93;p17"/>
          <p:cNvSpPr txBox="1">
            <a:spLocks noGrp="1"/>
          </p:cNvSpPr>
          <p:nvPr>
            <p:ph type="body" idx="1"/>
          </p:nvPr>
        </p:nvSpPr>
        <p:spPr>
          <a:xfrm>
            <a:off x="381000" y="476098"/>
            <a:ext cx="8821738" cy="507773"/>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 name="Google Shape;94;p17"/>
          <p:cNvSpPr txBox="1">
            <a:spLocks noGrp="1"/>
          </p:cNvSpPr>
          <p:nvPr>
            <p:ph type="body" idx="2"/>
          </p:nvPr>
        </p:nvSpPr>
        <p:spPr>
          <a:xfrm>
            <a:off x="381000" y="983871"/>
            <a:ext cx="6745288" cy="424807"/>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1_Custom Layout">
  <p:cSld name="11_Custom Layout">
    <p:spTree>
      <p:nvGrpSpPr>
        <p:cNvPr id="1" name="Shape 95"/>
        <p:cNvGrpSpPr/>
        <p:nvPr/>
      </p:nvGrpSpPr>
      <p:grpSpPr>
        <a:xfrm>
          <a:off x="0" y="0"/>
          <a:ext cx="0" cy="0"/>
          <a:chOff x="0" y="0"/>
          <a:chExt cx="0" cy="0"/>
        </a:xfrm>
      </p:grpSpPr>
      <p:sp>
        <p:nvSpPr>
          <p:cNvPr id="96" name="Google Shape;96;p18"/>
          <p:cNvSpPr/>
          <p:nvPr/>
        </p:nvSpPr>
        <p:spPr>
          <a:xfrm>
            <a:off x="0" y="5787"/>
            <a:ext cx="12192000" cy="6858000"/>
          </a:xfrm>
          <a:prstGeom prst="rect">
            <a:avLst/>
          </a:prstGeom>
          <a:gradFill>
            <a:gsLst>
              <a:gs pos="0">
                <a:srgbClr val="01BAFF"/>
              </a:gs>
              <a:gs pos="100000">
                <a:srgbClr val="00F4FE"/>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8"/>
          <p:cNvSpPr txBox="1">
            <a:spLocks noGrp="1"/>
          </p:cNvSpPr>
          <p:nvPr>
            <p:ph type="ftr" idx="11"/>
          </p:nvPr>
        </p:nvSpPr>
        <p:spPr>
          <a:xfrm>
            <a:off x="381002" y="6519009"/>
            <a:ext cx="5714999" cy="20637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050" b="0" i="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18"/>
          <p:cNvSpPr txBox="1">
            <a:spLocks noGrp="1"/>
          </p:cNvSpPr>
          <p:nvPr>
            <p:ph type="sldNum" idx="12"/>
          </p:nvPr>
        </p:nvSpPr>
        <p:spPr>
          <a:xfrm>
            <a:off x="11506202" y="6519009"/>
            <a:ext cx="685798" cy="206375"/>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1050" b="0" i="0">
                <a:solidFill>
                  <a:schemeClr val="dk1"/>
                </a:solidFill>
                <a:latin typeface="Arial"/>
                <a:ea typeface="Arial"/>
                <a:cs typeface="Arial"/>
                <a:sym typeface="Arial"/>
              </a:defRPr>
            </a:lvl1pPr>
            <a:lvl2pPr marL="0" marR="0" lvl="1" indent="0" algn="l" rtl="0">
              <a:spcBef>
                <a:spcPts val="0"/>
              </a:spcBef>
              <a:buNone/>
              <a:defRPr sz="1050" b="0" i="0">
                <a:solidFill>
                  <a:schemeClr val="dk1"/>
                </a:solidFill>
                <a:latin typeface="Arial"/>
                <a:ea typeface="Arial"/>
                <a:cs typeface="Arial"/>
                <a:sym typeface="Arial"/>
              </a:defRPr>
            </a:lvl2pPr>
            <a:lvl3pPr marL="0" marR="0" lvl="2" indent="0" algn="l" rtl="0">
              <a:spcBef>
                <a:spcPts val="0"/>
              </a:spcBef>
              <a:buNone/>
              <a:defRPr sz="1050" b="0" i="0">
                <a:solidFill>
                  <a:schemeClr val="dk1"/>
                </a:solidFill>
                <a:latin typeface="Arial"/>
                <a:ea typeface="Arial"/>
                <a:cs typeface="Arial"/>
                <a:sym typeface="Arial"/>
              </a:defRPr>
            </a:lvl3pPr>
            <a:lvl4pPr marL="0" marR="0" lvl="3" indent="0" algn="l" rtl="0">
              <a:spcBef>
                <a:spcPts val="0"/>
              </a:spcBef>
              <a:buNone/>
              <a:defRPr sz="1050" b="0" i="0">
                <a:solidFill>
                  <a:schemeClr val="dk1"/>
                </a:solidFill>
                <a:latin typeface="Arial"/>
                <a:ea typeface="Arial"/>
                <a:cs typeface="Arial"/>
                <a:sym typeface="Arial"/>
              </a:defRPr>
            </a:lvl4pPr>
            <a:lvl5pPr marL="0" marR="0" lvl="4" indent="0" algn="l" rtl="0">
              <a:spcBef>
                <a:spcPts val="0"/>
              </a:spcBef>
              <a:buNone/>
              <a:defRPr sz="1050" b="0" i="0">
                <a:solidFill>
                  <a:schemeClr val="dk1"/>
                </a:solidFill>
                <a:latin typeface="Arial"/>
                <a:ea typeface="Arial"/>
                <a:cs typeface="Arial"/>
                <a:sym typeface="Arial"/>
              </a:defRPr>
            </a:lvl5pPr>
            <a:lvl6pPr marL="0" marR="0" lvl="5" indent="0" algn="l" rtl="0">
              <a:spcBef>
                <a:spcPts val="0"/>
              </a:spcBef>
              <a:buNone/>
              <a:defRPr sz="1050" b="0" i="0">
                <a:solidFill>
                  <a:schemeClr val="dk1"/>
                </a:solidFill>
                <a:latin typeface="Arial"/>
                <a:ea typeface="Arial"/>
                <a:cs typeface="Arial"/>
                <a:sym typeface="Arial"/>
              </a:defRPr>
            </a:lvl6pPr>
            <a:lvl7pPr marL="0" marR="0" lvl="6" indent="0" algn="l" rtl="0">
              <a:spcBef>
                <a:spcPts val="0"/>
              </a:spcBef>
              <a:buNone/>
              <a:defRPr sz="1050" b="0" i="0">
                <a:solidFill>
                  <a:schemeClr val="dk1"/>
                </a:solidFill>
                <a:latin typeface="Arial"/>
                <a:ea typeface="Arial"/>
                <a:cs typeface="Arial"/>
                <a:sym typeface="Arial"/>
              </a:defRPr>
            </a:lvl7pPr>
            <a:lvl8pPr marL="0" marR="0" lvl="7" indent="0" algn="l" rtl="0">
              <a:spcBef>
                <a:spcPts val="0"/>
              </a:spcBef>
              <a:buNone/>
              <a:defRPr sz="1050" b="0" i="0">
                <a:solidFill>
                  <a:schemeClr val="dk1"/>
                </a:solidFill>
                <a:latin typeface="Arial"/>
                <a:ea typeface="Arial"/>
                <a:cs typeface="Arial"/>
                <a:sym typeface="Arial"/>
              </a:defRPr>
            </a:lvl8pPr>
            <a:lvl9pPr marL="0" marR="0" lvl="8" indent="0" algn="l" rtl="0">
              <a:spcBef>
                <a:spcPts val="0"/>
              </a:spcBef>
              <a:buNone/>
              <a:defRPr sz="1050" b="0" i="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‹Nº›</a:t>
            </a:fld>
            <a:endParaRPr/>
          </a:p>
        </p:txBody>
      </p:sp>
      <p:sp>
        <p:nvSpPr>
          <p:cNvPr id="99" name="Google Shape;99;p18"/>
          <p:cNvSpPr txBox="1">
            <a:spLocks noGrp="1"/>
          </p:cNvSpPr>
          <p:nvPr>
            <p:ph type="body" idx="1"/>
          </p:nvPr>
        </p:nvSpPr>
        <p:spPr>
          <a:xfrm>
            <a:off x="349250" y="2317283"/>
            <a:ext cx="11493500" cy="222343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2_Custom Layout">
  <p:cSld name="12_Custom Layout">
    <p:spTree>
      <p:nvGrpSpPr>
        <p:cNvPr id="1" name="Shape 100"/>
        <p:cNvGrpSpPr/>
        <p:nvPr/>
      </p:nvGrpSpPr>
      <p:grpSpPr>
        <a:xfrm>
          <a:off x="0" y="0"/>
          <a:ext cx="0" cy="0"/>
          <a:chOff x="0" y="0"/>
          <a:chExt cx="0" cy="0"/>
        </a:xfrm>
      </p:grpSpPr>
      <p:sp>
        <p:nvSpPr>
          <p:cNvPr id="101" name="Google Shape;101;p19"/>
          <p:cNvSpPr/>
          <p:nvPr/>
        </p:nvSpPr>
        <p:spPr>
          <a:xfrm>
            <a:off x="0" y="0"/>
            <a:ext cx="12192000" cy="6858000"/>
          </a:xfrm>
          <a:prstGeom prst="rect">
            <a:avLst/>
          </a:prstGeom>
          <a:gradFill>
            <a:gsLst>
              <a:gs pos="0">
                <a:srgbClr val="00F4FE"/>
              </a:gs>
              <a:gs pos="99000">
                <a:srgbClr val="08FA7B"/>
              </a:gs>
              <a:gs pos="100000">
                <a:srgbClr val="08FA7B"/>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19"/>
          <p:cNvSpPr txBox="1">
            <a:spLocks noGrp="1"/>
          </p:cNvSpPr>
          <p:nvPr>
            <p:ph type="ftr" idx="11"/>
          </p:nvPr>
        </p:nvSpPr>
        <p:spPr>
          <a:xfrm>
            <a:off x="381002" y="6519009"/>
            <a:ext cx="5714999" cy="20637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050" b="0" i="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19"/>
          <p:cNvSpPr txBox="1">
            <a:spLocks noGrp="1"/>
          </p:cNvSpPr>
          <p:nvPr>
            <p:ph type="sldNum" idx="12"/>
          </p:nvPr>
        </p:nvSpPr>
        <p:spPr>
          <a:xfrm>
            <a:off x="11506202" y="6519009"/>
            <a:ext cx="685798" cy="206375"/>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1050" b="0" i="0">
                <a:solidFill>
                  <a:schemeClr val="dk1"/>
                </a:solidFill>
                <a:latin typeface="Arial"/>
                <a:ea typeface="Arial"/>
                <a:cs typeface="Arial"/>
                <a:sym typeface="Arial"/>
              </a:defRPr>
            </a:lvl1pPr>
            <a:lvl2pPr marL="0" marR="0" lvl="1" indent="0" algn="l" rtl="0">
              <a:spcBef>
                <a:spcPts val="0"/>
              </a:spcBef>
              <a:buNone/>
              <a:defRPr sz="1050" b="0" i="0">
                <a:solidFill>
                  <a:schemeClr val="dk1"/>
                </a:solidFill>
                <a:latin typeface="Arial"/>
                <a:ea typeface="Arial"/>
                <a:cs typeface="Arial"/>
                <a:sym typeface="Arial"/>
              </a:defRPr>
            </a:lvl2pPr>
            <a:lvl3pPr marL="0" marR="0" lvl="2" indent="0" algn="l" rtl="0">
              <a:spcBef>
                <a:spcPts val="0"/>
              </a:spcBef>
              <a:buNone/>
              <a:defRPr sz="1050" b="0" i="0">
                <a:solidFill>
                  <a:schemeClr val="dk1"/>
                </a:solidFill>
                <a:latin typeface="Arial"/>
                <a:ea typeface="Arial"/>
                <a:cs typeface="Arial"/>
                <a:sym typeface="Arial"/>
              </a:defRPr>
            </a:lvl3pPr>
            <a:lvl4pPr marL="0" marR="0" lvl="3" indent="0" algn="l" rtl="0">
              <a:spcBef>
                <a:spcPts val="0"/>
              </a:spcBef>
              <a:buNone/>
              <a:defRPr sz="1050" b="0" i="0">
                <a:solidFill>
                  <a:schemeClr val="dk1"/>
                </a:solidFill>
                <a:latin typeface="Arial"/>
                <a:ea typeface="Arial"/>
                <a:cs typeface="Arial"/>
                <a:sym typeface="Arial"/>
              </a:defRPr>
            </a:lvl4pPr>
            <a:lvl5pPr marL="0" marR="0" lvl="4" indent="0" algn="l" rtl="0">
              <a:spcBef>
                <a:spcPts val="0"/>
              </a:spcBef>
              <a:buNone/>
              <a:defRPr sz="1050" b="0" i="0">
                <a:solidFill>
                  <a:schemeClr val="dk1"/>
                </a:solidFill>
                <a:latin typeface="Arial"/>
                <a:ea typeface="Arial"/>
                <a:cs typeface="Arial"/>
                <a:sym typeface="Arial"/>
              </a:defRPr>
            </a:lvl5pPr>
            <a:lvl6pPr marL="0" marR="0" lvl="5" indent="0" algn="l" rtl="0">
              <a:spcBef>
                <a:spcPts val="0"/>
              </a:spcBef>
              <a:buNone/>
              <a:defRPr sz="1050" b="0" i="0">
                <a:solidFill>
                  <a:schemeClr val="dk1"/>
                </a:solidFill>
                <a:latin typeface="Arial"/>
                <a:ea typeface="Arial"/>
                <a:cs typeface="Arial"/>
                <a:sym typeface="Arial"/>
              </a:defRPr>
            </a:lvl6pPr>
            <a:lvl7pPr marL="0" marR="0" lvl="6" indent="0" algn="l" rtl="0">
              <a:spcBef>
                <a:spcPts val="0"/>
              </a:spcBef>
              <a:buNone/>
              <a:defRPr sz="1050" b="0" i="0">
                <a:solidFill>
                  <a:schemeClr val="dk1"/>
                </a:solidFill>
                <a:latin typeface="Arial"/>
                <a:ea typeface="Arial"/>
                <a:cs typeface="Arial"/>
                <a:sym typeface="Arial"/>
              </a:defRPr>
            </a:lvl7pPr>
            <a:lvl8pPr marL="0" marR="0" lvl="7" indent="0" algn="l" rtl="0">
              <a:spcBef>
                <a:spcPts val="0"/>
              </a:spcBef>
              <a:buNone/>
              <a:defRPr sz="1050" b="0" i="0">
                <a:solidFill>
                  <a:schemeClr val="dk1"/>
                </a:solidFill>
                <a:latin typeface="Arial"/>
                <a:ea typeface="Arial"/>
                <a:cs typeface="Arial"/>
                <a:sym typeface="Arial"/>
              </a:defRPr>
            </a:lvl8pPr>
            <a:lvl9pPr marL="0" marR="0" lvl="8" indent="0" algn="l" rtl="0">
              <a:spcBef>
                <a:spcPts val="0"/>
              </a:spcBef>
              <a:buNone/>
              <a:defRPr sz="1050" b="0" i="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‹Nº›</a:t>
            </a:fld>
            <a:endParaRPr/>
          </a:p>
        </p:txBody>
      </p:sp>
      <p:sp>
        <p:nvSpPr>
          <p:cNvPr id="104" name="Google Shape;104;p19"/>
          <p:cNvSpPr txBox="1">
            <a:spLocks noGrp="1"/>
          </p:cNvSpPr>
          <p:nvPr>
            <p:ph type="body" idx="1"/>
          </p:nvPr>
        </p:nvSpPr>
        <p:spPr>
          <a:xfrm>
            <a:off x="349250" y="2317283"/>
            <a:ext cx="11493500" cy="222343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3_Custom Layout">
  <p:cSld name="13_Custom Layout">
    <p:spTree>
      <p:nvGrpSpPr>
        <p:cNvPr id="1" name="Shape 105"/>
        <p:cNvGrpSpPr/>
        <p:nvPr/>
      </p:nvGrpSpPr>
      <p:grpSpPr>
        <a:xfrm>
          <a:off x="0" y="0"/>
          <a:ext cx="0" cy="0"/>
          <a:chOff x="0" y="0"/>
          <a:chExt cx="0" cy="0"/>
        </a:xfrm>
      </p:grpSpPr>
      <p:pic>
        <p:nvPicPr>
          <p:cNvPr id="106" name="Google Shape;106;p20"/>
          <p:cNvPicPr preferRelativeResize="0"/>
          <p:nvPr/>
        </p:nvPicPr>
        <p:blipFill rotWithShape="1">
          <a:blip r:embed="rId2">
            <a:alphaModFix/>
          </a:blip>
          <a:srcRect/>
          <a:stretch/>
        </p:blipFill>
        <p:spPr>
          <a:xfrm flipH="1">
            <a:off x="8026400" y="2887579"/>
            <a:ext cx="4165600" cy="2935898"/>
          </a:xfrm>
          <a:prstGeom prst="rect">
            <a:avLst/>
          </a:prstGeom>
          <a:noFill/>
          <a:ln>
            <a:noFill/>
          </a:ln>
        </p:spPr>
      </p:pic>
      <p:sp>
        <p:nvSpPr>
          <p:cNvPr id="107" name="Google Shape;107;p20"/>
          <p:cNvSpPr txBox="1">
            <a:spLocks noGrp="1"/>
          </p:cNvSpPr>
          <p:nvPr>
            <p:ph type="ftr" idx="11"/>
          </p:nvPr>
        </p:nvSpPr>
        <p:spPr>
          <a:xfrm>
            <a:off x="381002" y="6519009"/>
            <a:ext cx="5714999" cy="20637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050" b="0" i="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8" name="Google Shape;108;p20"/>
          <p:cNvSpPr txBox="1">
            <a:spLocks noGrp="1"/>
          </p:cNvSpPr>
          <p:nvPr>
            <p:ph type="sldNum" idx="12"/>
          </p:nvPr>
        </p:nvSpPr>
        <p:spPr>
          <a:xfrm>
            <a:off x="11506202" y="6519009"/>
            <a:ext cx="685798" cy="206375"/>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1050" b="0" i="0">
                <a:solidFill>
                  <a:schemeClr val="dk1"/>
                </a:solidFill>
                <a:latin typeface="Arial"/>
                <a:ea typeface="Arial"/>
                <a:cs typeface="Arial"/>
                <a:sym typeface="Arial"/>
              </a:defRPr>
            </a:lvl1pPr>
            <a:lvl2pPr marL="0" marR="0" lvl="1" indent="0" algn="l" rtl="0">
              <a:spcBef>
                <a:spcPts val="0"/>
              </a:spcBef>
              <a:buNone/>
              <a:defRPr sz="1050" b="0" i="0">
                <a:solidFill>
                  <a:schemeClr val="dk1"/>
                </a:solidFill>
                <a:latin typeface="Arial"/>
                <a:ea typeface="Arial"/>
                <a:cs typeface="Arial"/>
                <a:sym typeface="Arial"/>
              </a:defRPr>
            </a:lvl2pPr>
            <a:lvl3pPr marL="0" marR="0" lvl="2" indent="0" algn="l" rtl="0">
              <a:spcBef>
                <a:spcPts val="0"/>
              </a:spcBef>
              <a:buNone/>
              <a:defRPr sz="1050" b="0" i="0">
                <a:solidFill>
                  <a:schemeClr val="dk1"/>
                </a:solidFill>
                <a:latin typeface="Arial"/>
                <a:ea typeface="Arial"/>
                <a:cs typeface="Arial"/>
                <a:sym typeface="Arial"/>
              </a:defRPr>
            </a:lvl3pPr>
            <a:lvl4pPr marL="0" marR="0" lvl="3" indent="0" algn="l" rtl="0">
              <a:spcBef>
                <a:spcPts val="0"/>
              </a:spcBef>
              <a:buNone/>
              <a:defRPr sz="1050" b="0" i="0">
                <a:solidFill>
                  <a:schemeClr val="dk1"/>
                </a:solidFill>
                <a:latin typeface="Arial"/>
                <a:ea typeface="Arial"/>
                <a:cs typeface="Arial"/>
                <a:sym typeface="Arial"/>
              </a:defRPr>
            </a:lvl4pPr>
            <a:lvl5pPr marL="0" marR="0" lvl="4" indent="0" algn="l" rtl="0">
              <a:spcBef>
                <a:spcPts val="0"/>
              </a:spcBef>
              <a:buNone/>
              <a:defRPr sz="1050" b="0" i="0">
                <a:solidFill>
                  <a:schemeClr val="dk1"/>
                </a:solidFill>
                <a:latin typeface="Arial"/>
                <a:ea typeface="Arial"/>
                <a:cs typeface="Arial"/>
                <a:sym typeface="Arial"/>
              </a:defRPr>
            </a:lvl5pPr>
            <a:lvl6pPr marL="0" marR="0" lvl="5" indent="0" algn="l" rtl="0">
              <a:spcBef>
                <a:spcPts val="0"/>
              </a:spcBef>
              <a:buNone/>
              <a:defRPr sz="1050" b="0" i="0">
                <a:solidFill>
                  <a:schemeClr val="dk1"/>
                </a:solidFill>
                <a:latin typeface="Arial"/>
                <a:ea typeface="Arial"/>
                <a:cs typeface="Arial"/>
                <a:sym typeface="Arial"/>
              </a:defRPr>
            </a:lvl6pPr>
            <a:lvl7pPr marL="0" marR="0" lvl="6" indent="0" algn="l" rtl="0">
              <a:spcBef>
                <a:spcPts val="0"/>
              </a:spcBef>
              <a:buNone/>
              <a:defRPr sz="1050" b="0" i="0">
                <a:solidFill>
                  <a:schemeClr val="dk1"/>
                </a:solidFill>
                <a:latin typeface="Arial"/>
                <a:ea typeface="Arial"/>
                <a:cs typeface="Arial"/>
                <a:sym typeface="Arial"/>
              </a:defRPr>
            </a:lvl7pPr>
            <a:lvl8pPr marL="0" marR="0" lvl="7" indent="0" algn="l" rtl="0">
              <a:spcBef>
                <a:spcPts val="0"/>
              </a:spcBef>
              <a:buNone/>
              <a:defRPr sz="1050" b="0" i="0">
                <a:solidFill>
                  <a:schemeClr val="dk1"/>
                </a:solidFill>
                <a:latin typeface="Arial"/>
                <a:ea typeface="Arial"/>
                <a:cs typeface="Arial"/>
                <a:sym typeface="Arial"/>
              </a:defRPr>
            </a:lvl8pPr>
            <a:lvl9pPr marL="0" marR="0" lvl="8" indent="0" algn="l" rtl="0">
              <a:spcBef>
                <a:spcPts val="0"/>
              </a:spcBef>
              <a:buNone/>
              <a:defRPr sz="1050" b="0" i="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9_Custom Layout">
  <p:cSld name="39_Custom Layout">
    <p:spTree>
      <p:nvGrpSpPr>
        <p:cNvPr id="1" name="Shape 109"/>
        <p:cNvGrpSpPr/>
        <p:nvPr/>
      </p:nvGrpSpPr>
      <p:grpSpPr>
        <a:xfrm>
          <a:off x="0" y="0"/>
          <a:ext cx="0" cy="0"/>
          <a:chOff x="0" y="0"/>
          <a:chExt cx="0" cy="0"/>
        </a:xfrm>
      </p:grpSpPr>
      <p:pic>
        <p:nvPicPr>
          <p:cNvPr id="110" name="Google Shape;110;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1" name="Google Shape;111;p21"/>
          <p:cNvSpPr txBox="1">
            <a:spLocks noGrp="1"/>
          </p:cNvSpPr>
          <p:nvPr>
            <p:ph type="ftr" idx="11"/>
          </p:nvPr>
        </p:nvSpPr>
        <p:spPr>
          <a:xfrm>
            <a:off x="381002" y="6519009"/>
            <a:ext cx="5714999" cy="20637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050" b="0" i="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21"/>
          <p:cNvSpPr txBox="1">
            <a:spLocks noGrp="1"/>
          </p:cNvSpPr>
          <p:nvPr>
            <p:ph type="sldNum" idx="12"/>
          </p:nvPr>
        </p:nvSpPr>
        <p:spPr>
          <a:xfrm>
            <a:off x="11506202" y="6519009"/>
            <a:ext cx="685798" cy="206375"/>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1050" b="0" i="0">
                <a:solidFill>
                  <a:schemeClr val="dk1"/>
                </a:solidFill>
                <a:latin typeface="Arial"/>
                <a:ea typeface="Arial"/>
                <a:cs typeface="Arial"/>
                <a:sym typeface="Arial"/>
              </a:defRPr>
            </a:lvl1pPr>
            <a:lvl2pPr marL="0" marR="0" lvl="1" indent="0" algn="l" rtl="0">
              <a:spcBef>
                <a:spcPts val="0"/>
              </a:spcBef>
              <a:buNone/>
              <a:defRPr sz="1050" b="0" i="0">
                <a:solidFill>
                  <a:schemeClr val="dk1"/>
                </a:solidFill>
                <a:latin typeface="Arial"/>
                <a:ea typeface="Arial"/>
                <a:cs typeface="Arial"/>
                <a:sym typeface="Arial"/>
              </a:defRPr>
            </a:lvl2pPr>
            <a:lvl3pPr marL="0" marR="0" lvl="2" indent="0" algn="l" rtl="0">
              <a:spcBef>
                <a:spcPts val="0"/>
              </a:spcBef>
              <a:buNone/>
              <a:defRPr sz="1050" b="0" i="0">
                <a:solidFill>
                  <a:schemeClr val="dk1"/>
                </a:solidFill>
                <a:latin typeface="Arial"/>
                <a:ea typeface="Arial"/>
                <a:cs typeface="Arial"/>
                <a:sym typeface="Arial"/>
              </a:defRPr>
            </a:lvl3pPr>
            <a:lvl4pPr marL="0" marR="0" lvl="3" indent="0" algn="l" rtl="0">
              <a:spcBef>
                <a:spcPts val="0"/>
              </a:spcBef>
              <a:buNone/>
              <a:defRPr sz="1050" b="0" i="0">
                <a:solidFill>
                  <a:schemeClr val="dk1"/>
                </a:solidFill>
                <a:latin typeface="Arial"/>
                <a:ea typeface="Arial"/>
                <a:cs typeface="Arial"/>
                <a:sym typeface="Arial"/>
              </a:defRPr>
            </a:lvl4pPr>
            <a:lvl5pPr marL="0" marR="0" lvl="4" indent="0" algn="l" rtl="0">
              <a:spcBef>
                <a:spcPts val="0"/>
              </a:spcBef>
              <a:buNone/>
              <a:defRPr sz="1050" b="0" i="0">
                <a:solidFill>
                  <a:schemeClr val="dk1"/>
                </a:solidFill>
                <a:latin typeface="Arial"/>
                <a:ea typeface="Arial"/>
                <a:cs typeface="Arial"/>
                <a:sym typeface="Arial"/>
              </a:defRPr>
            </a:lvl5pPr>
            <a:lvl6pPr marL="0" marR="0" lvl="5" indent="0" algn="l" rtl="0">
              <a:spcBef>
                <a:spcPts val="0"/>
              </a:spcBef>
              <a:buNone/>
              <a:defRPr sz="1050" b="0" i="0">
                <a:solidFill>
                  <a:schemeClr val="dk1"/>
                </a:solidFill>
                <a:latin typeface="Arial"/>
                <a:ea typeface="Arial"/>
                <a:cs typeface="Arial"/>
                <a:sym typeface="Arial"/>
              </a:defRPr>
            </a:lvl6pPr>
            <a:lvl7pPr marL="0" marR="0" lvl="6" indent="0" algn="l" rtl="0">
              <a:spcBef>
                <a:spcPts val="0"/>
              </a:spcBef>
              <a:buNone/>
              <a:defRPr sz="1050" b="0" i="0">
                <a:solidFill>
                  <a:schemeClr val="dk1"/>
                </a:solidFill>
                <a:latin typeface="Arial"/>
                <a:ea typeface="Arial"/>
                <a:cs typeface="Arial"/>
                <a:sym typeface="Arial"/>
              </a:defRPr>
            </a:lvl7pPr>
            <a:lvl8pPr marL="0" marR="0" lvl="7" indent="0" algn="l" rtl="0">
              <a:spcBef>
                <a:spcPts val="0"/>
              </a:spcBef>
              <a:buNone/>
              <a:defRPr sz="1050" b="0" i="0">
                <a:solidFill>
                  <a:schemeClr val="dk1"/>
                </a:solidFill>
                <a:latin typeface="Arial"/>
                <a:ea typeface="Arial"/>
                <a:cs typeface="Arial"/>
                <a:sym typeface="Arial"/>
              </a:defRPr>
            </a:lvl8pPr>
            <a:lvl9pPr marL="0" marR="0" lvl="8" indent="0" algn="l" rtl="0">
              <a:spcBef>
                <a:spcPts val="0"/>
              </a:spcBef>
              <a:buNone/>
              <a:defRPr sz="1050" b="0" i="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0_Custom Layout">
  <p:cSld name="40_Custom Layout">
    <p:spTree>
      <p:nvGrpSpPr>
        <p:cNvPr id="1" name="Shape 113"/>
        <p:cNvGrpSpPr/>
        <p:nvPr/>
      </p:nvGrpSpPr>
      <p:grpSpPr>
        <a:xfrm>
          <a:off x="0" y="0"/>
          <a:ext cx="0" cy="0"/>
          <a:chOff x="0" y="0"/>
          <a:chExt cx="0" cy="0"/>
        </a:xfrm>
      </p:grpSpPr>
      <p:pic>
        <p:nvPicPr>
          <p:cNvPr id="114" name="Google Shape;114;p2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5" name="Google Shape;115;p22"/>
          <p:cNvSpPr txBox="1">
            <a:spLocks noGrp="1"/>
          </p:cNvSpPr>
          <p:nvPr>
            <p:ph type="ftr" idx="11"/>
          </p:nvPr>
        </p:nvSpPr>
        <p:spPr>
          <a:xfrm>
            <a:off x="381002" y="6519009"/>
            <a:ext cx="5714999" cy="20637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050" b="0" i="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6" name="Google Shape;116;p22"/>
          <p:cNvSpPr txBox="1">
            <a:spLocks noGrp="1"/>
          </p:cNvSpPr>
          <p:nvPr>
            <p:ph type="sldNum" idx="12"/>
          </p:nvPr>
        </p:nvSpPr>
        <p:spPr>
          <a:xfrm>
            <a:off x="11506202" y="6519009"/>
            <a:ext cx="685798" cy="206375"/>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1050" b="0" i="0">
                <a:solidFill>
                  <a:schemeClr val="dk1"/>
                </a:solidFill>
                <a:latin typeface="Arial"/>
                <a:ea typeface="Arial"/>
                <a:cs typeface="Arial"/>
                <a:sym typeface="Arial"/>
              </a:defRPr>
            </a:lvl1pPr>
            <a:lvl2pPr marL="0" marR="0" lvl="1" indent="0" algn="l" rtl="0">
              <a:spcBef>
                <a:spcPts val="0"/>
              </a:spcBef>
              <a:buNone/>
              <a:defRPr sz="1050" b="0" i="0">
                <a:solidFill>
                  <a:schemeClr val="dk1"/>
                </a:solidFill>
                <a:latin typeface="Arial"/>
                <a:ea typeface="Arial"/>
                <a:cs typeface="Arial"/>
                <a:sym typeface="Arial"/>
              </a:defRPr>
            </a:lvl2pPr>
            <a:lvl3pPr marL="0" marR="0" lvl="2" indent="0" algn="l" rtl="0">
              <a:spcBef>
                <a:spcPts val="0"/>
              </a:spcBef>
              <a:buNone/>
              <a:defRPr sz="1050" b="0" i="0">
                <a:solidFill>
                  <a:schemeClr val="dk1"/>
                </a:solidFill>
                <a:latin typeface="Arial"/>
                <a:ea typeface="Arial"/>
                <a:cs typeface="Arial"/>
                <a:sym typeface="Arial"/>
              </a:defRPr>
            </a:lvl3pPr>
            <a:lvl4pPr marL="0" marR="0" lvl="3" indent="0" algn="l" rtl="0">
              <a:spcBef>
                <a:spcPts val="0"/>
              </a:spcBef>
              <a:buNone/>
              <a:defRPr sz="1050" b="0" i="0">
                <a:solidFill>
                  <a:schemeClr val="dk1"/>
                </a:solidFill>
                <a:latin typeface="Arial"/>
                <a:ea typeface="Arial"/>
                <a:cs typeface="Arial"/>
                <a:sym typeface="Arial"/>
              </a:defRPr>
            </a:lvl4pPr>
            <a:lvl5pPr marL="0" marR="0" lvl="4" indent="0" algn="l" rtl="0">
              <a:spcBef>
                <a:spcPts val="0"/>
              </a:spcBef>
              <a:buNone/>
              <a:defRPr sz="1050" b="0" i="0">
                <a:solidFill>
                  <a:schemeClr val="dk1"/>
                </a:solidFill>
                <a:latin typeface="Arial"/>
                <a:ea typeface="Arial"/>
                <a:cs typeface="Arial"/>
                <a:sym typeface="Arial"/>
              </a:defRPr>
            </a:lvl5pPr>
            <a:lvl6pPr marL="0" marR="0" lvl="5" indent="0" algn="l" rtl="0">
              <a:spcBef>
                <a:spcPts val="0"/>
              </a:spcBef>
              <a:buNone/>
              <a:defRPr sz="1050" b="0" i="0">
                <a:solidFill>
                  <a:schemeClr val="dk1"/>
                </a:solidFill>
                <a:latin typeface="Arial"/>
                <a:ea typeface="Arial"/>
                <a:cs typeface="Arial"/>
                <a:sym typeface="Arial"/>
              </a:defRPr>
            </a:lvl6pPr>
            <a:lvl7pPr marL="0" marR="0" lvl="6" indent="0" algn="l" rtl="0">
              <a:spcBef>
                <a:spcPts val="0"/>
              </a:spcBef>
              <a:buNone/>
              <a:defRPr sz="1050" b="0" i="0">
                <a:solidFill>
                  <a:schemeClr val="dk1"/>
                </a:solidFill>
                <a:latin typeface="Arial"/>
                <a:ea typeface="Arial"/>
                <a:cs typeface="Arial"/>
                <a:sym typeface="Arial"/>
              </a:defRPr>
            </a:lvl7pPr>
            <a:lvl8pPr marL="0" marR="0" lvl="7" indent="0" algn="l" rtl="0">
              <a:spcBef>
                <a:spcPts val="0"/>
              </a:spcBef>
              <a:buNone/>
              <a:defRPr sz="1050" b="0" i="0">
                <a:solidFill>
                  <a:schemeClr val="dk1"/>
                </a:solidFill>
                <a:latin typeface="Arial"/>
                <a:ea typeface="Arial"/>
                <a:cs typeface="Arial"/>
                <a:sym typeface="Arial"/>
              </a:defRPr>
            </a:lvl8pPr>
            <a:lvl9pPr marL="0" marR="0" lvl="8" indent="0" algn="l" rtl="0">
              <a:spcBef>
                <a:spcPts val="0"/>
              </a:spcBef>
              <a:buNone/>
              <a:defRPr sz="1050" b="0" i="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41_Custom Layout">
  <p:cSld name="41_Custom Layout">
    <p:spTree>
      <p:nvGrpSpPr>
        <p:cNvPr id="1" name="Shape 117"/>
        <p:cNvGrpSpPr/>
        <p:nvPr/>
      </p:nvGrpSpPr>
      <p:grpSpPr>
        <a:xfrm>
          <a:off x="0" y="0"/>
          <a:ext cx="0" cy="0"/>
          <a:chOff x="0" y="0"/>
          <a:chExt cx="0" cy="0"/>
        </a:xfrm>
      </p:grpSpPr>
      <p:sp>
        <p:nvSpPr>
          <p:cNvPr id="118" name="Google Shape;118;p23"/>
          <p:cNvSpPr txBox="1">
            <a:spLocks noGrp="1"/>
          </p:cNvSpPr>
          <p:nvPr>
            <p:ph type="ftr" idx="11"/>
          </p:nvPr>
        </p:nvSpPr>
        <p:spPr>
          <a:xfrm>
            <a:off x="381002" y="6519009"/>
            <a:ext cx="5714999" cy="20637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050" b="0" i="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23"/>
          <p:cNvSpPr txBox="1">
            <a:spLocks noGrp="1"/>
          </p:cNvSpPr>
          <p:nvPr>
            <p:ph type="sldNum" idx="12"/>
          </p:nvPr>
        </p:nvSpPr>
        <p:spPr>
          <a:xfrm>
            <a:off x="11506202" y="6519009"/>
            <a:ext cx="685798" cy="206375"/>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1050" b="0" i="0">
                <a:solidFill>
                  <a:schemeClr val="dk1"/>
                </a:solidFill>
                <a:latin typeface="Arial"/>
                <a:ea typeface="Arial"/>
                <a:cs typeface="Arial"/>
                <a:sym typeface="Arial"/>
              </a:defRPr>
            </a:lvl1pPr>
            <a:lvl2pPr marL="0" marR="0" lvl="1" indent="0" algn="l" rtl="0">
              <a:spcBef>
                <a:spcPts val="0"/>
              </a:spcBef>
              <a:buNone/>
              <a:defRPr sz="1050" b="0" i="0">
                <a:solidFill>
                  <a:schemeClr val="dk1"/>
                </a:solidFill>
                <a:latin typeface="Arial"/>
                <a:ea typeface="Arial"/>
                <a:cs typeface="Arial"/>
                <a:sym typeface="Arial"/>
              </a:defRPr>
            </a:lvl2pPr>
            <a:lvl3pPr marL="0" marR="0" lvl="2" indent="0" algn="l" rtl="0">
              <a:spcBef>
                <a:spcPts val="0"/>
              </a:spcBef>
              <a:buNone/>
              <a:defRPr sz="1050" b="0" i="0">
                <a:solidFill>
                  <a:schemeClr val="dk1"/>
                </a:solidFill>
                <a:latin typeface="Arial"/>
                <a:ea typeface="Arial"/>
                <a:cs typeface="Arial"/>
                <a:sym typeface="Arial"/>
              </a:defRPr>
            </a:lvl3pPr>
            <a:lvl4pPr marL="0" marR="0" lvl="3" indent="0" algn="l" rtl="0">
              <a:spcBef>
                <a:spcPts val="0"/>
              </a:spcBef>
              <a:buNone/>
              <a:defRPr sz="1050" b="0" i="0">
                <a:solidFill>
                  <a:schemeClr val="dk1"/>
                </a:solidFill>
                <a:latin typeface="Arial"/>
                <a:ea typeface="Arial"/>
                <a:cs typeface="Arial"/>
                <a:sym typeface="Arial"/>
              </a:defRPr>
            </a:lvl4pPr>
            <a:lvl5pPr marL="0" marR="0" lvl="4" indent="0" algn="l" rtl="0">
              <a:spcBef>
                <a:spcPts val="0"/>
              </a:spcBef>
              <a:buNone/>
              <a:defRPr sz="1050" b="0" i="0">
                <a:solidFill>
                  <a:schemeClr val="dk1"/>
                </a:solidFill>
                <a:latin typeface="Arial"/>
                <a:ea typeface="Arial"/>
                <a:cs typeface="Arial"/>
                <a:sym typeface="Arial"/>
              </a:defRPr>
            </a:lvl5pPr>
            <a:lvl6pPr marL="0" marR="0" lvl="5" indent="0" algn="l" rtl="0">
              <a:spcBef>
                <a:spcPts val="0"/>
              </a:spcBef>
              <a:buNone/>
              <a:defRPr sz="1050" b="0" i="0">
                <a:solidFill>
                  <a:schemeClr val="dk1"/>
                </a:solidFill>
                <a:latin typeface="Arial"/>
                <a:ea typeface="Arial"/>
                <a:cs typeface="Arial"/>
                <a:sym typeface="Arial"/>
              </a:defRPr>
            </a:lvl6pPr>
            <a:lvl7pPr marL="0" marR="0" lvl="6" indent="0" algn="l" rtl="0">
              <a:spcBef>
                <a:spcPts val="0"/>
              </a:spcBef>
              <a:buNone/>
              <a:defRPr sz="1050" b="0" i="0">
                <a:solidFill>
                  <a:schemeClr val="dk1"/>
                </a:solidFill>
                <a:latin typeface="Arial"/>
                <a:ea typeface="Arial"/>
                <a:cs typeface="Arial"/>
                <a:sym typeface="Arial"/>
              </a:defRPr>
            </a:lvl7pPr>
            <a:lvl8pPr marL="0" marR="0" lvl="7" indent="0" algn="l" rtl="0">
              <a:spcBef>
                <a:spcPts val="0"/>
              </a:spcBef>
              <a:buNone/>
              <a:defRPr sz="1050" b="0" i="0">
                <a:solidFill>
                  <a:schemeClr val="dk1"/>
                </a:solidFill>
                <a:latin typeface="Arial"/>
                <a:ea typeface="Arial"/>
                <a:cs typeface="Arial"/>
                <a:sym typeface="Arial"/>
              </a:defRPr>
            </a:lvl8pPr>
            <a:lvl9pPr marL="0" marR="0" lvl="8" indent="0" algn="l" rtl="0">
              <a:spcBef>
                <a:spcPts val="0"/>
              </a:spcBef>
              <a:buNone/>
              <a:defRPr sz="1050" b="0" i="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20"/>
        <p:cNvGrpSpPr/>
        <p:nvPr/>
      </p:nvGrpSpPr>
      <p:grpSpPr>
        <a:xfrm>
          <a:off x="0" y="0"/>
          <a:ext cx="0" cy="0"/>
          <a:chOff x="0" y="0"/>
          <a:chExt cx="0" cy="0"/>
        </a:xfrm>
      </p:grpSpPr>
      <p:sp>
        <p:nvSpPr>
          <p:cNvPr id="121" name="Google Shape;121;p24"/>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2" name="Google Shape;122;p24"/>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DFE9FB"/>
            </a:gs>
            <a:gs pos="100000">
              <a:srgbClr val="6E9BE7"/>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DFE9FB"/>
            </a:gs>
            <a:gs pos="100000">
              <a:srgbClr val="6E9BE7"/>
            </a:gs>
          </a:gsLst>
          <a:path path="circle">
            <a:fillToRect l="50000" t="50000" r="50000" b="50000"/>
          </a:path>
          <a:tileRect/>
        </a:gradFill>
        <a:effectLst/>
      </p:bgPr>
    </p:bg>
    <p:spTree>
      <p:nvGrpSpPr>
        <p:cNvPr id="1" name="Shape 8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p:nvPr/>
        </p:nvSpPr>
        <p:spPr>
          <a:xfrm>
            <a:off x="444582" y="2220611"/>
            <a:ext cx="10857900" cy="190860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Clr>
                <a:srgbClr val="000000"/>
              </a:buClr>
              <a:buSzPts val="6000"/>
              <a:buFont typeface="Arial"/>
              <a:buNone/>
            </a:pPr>
            <a:r>
              <a:rPr lang="en-US" sz="6000">
                <a:latin typeface="Anton"/>
                <a:ea typeface="Anton"/>
                <a:cs typeface="Anton"/>
                <a:sym typeface="Anton"/>
              </a:rPr>
              <a:t>Real Estate Consultant</a:t>
            </a:r>
            <a:endParaRPr sz="6000">
              <a:latin typeface="Anton"/>
              <a:ea typeface="Anton"/>
              <a:cs typeface="Anton"/>
              <a:sym typeface="Anton"/>
            </a:endParaRPr>
          </a:p>
          <a:p>
            <a:pPr marL="0" marR="0" lvl="0" indent="0" algn="ctr" rtl="0">
              <a:lnSpc>
                <a:spcPct val="80000"/>
              </a:lnSpc>
              <a:spcBef>
                <a:spcPts val="0"/>
              </a:spcBef>
              <a:spcAft>
                <a:spcPts val="0"/>
              </a:spcAft>
              <a:buClr>
                <a:srgbClr val="000000"/>
              </a:buClr>
              <a:buSzPts val="6000"/>
              <a:buFont typeface="Arial"/>
              <a:buNone/>
            </a:pPr>
            <a:endParaRPr sz="700">
              <a:latin typeface="Helvetica Neue Light"/>
              <a:ea typeface="Helvetica Neue Light"/>
              <a:cs typeface="Helvetica Neue Light"/>
              <a:sym typeface="Helvetica Neue Light"/>
            </a:endParaRPr>
          </a:p>
          <a:p>
            <a:pPr marL="0" marR="0" lvl="0" indent="0" algn="ctr" rtl="0">
              <a:lnSpc>
                <a:spcPct val="80000"/>
              </a:lnSpc>
              <a:spcBef>
                <a:spcPts val="0"/>
              </a:spcBef>
              <a:spcAft>
                <a:spcPts val="0"/>
              </a:spcAft>
              <a:buClr>
                <a:srgbClr val="000000"/>
              </a:buClr>
              <a:buSzPts val="6000"/>
              <a:buFont typeface="Arial"/>
              <a:buNone/>
            </a:pPr>
            <a:endParaRPr sz="3000">
              <a:latin typeface="Helvetica Neue Light"/>
              <a:ea typeface="Helvetica Neue Light"/>
              <a:cs typeface="Helvetica Neue Light"/>
              <a:sym typeface="Helvetica Neue Light"/>
            </a:endParaRPr>
          </a:p>
          <a:p>
            <a:pPr marL="0" marR="0" lvl="0" indent="0" algn="ctr" rtl="0">
              <a:lnSpc>
                <a:spcPct val="80000"/>
              </a:lnSpc>
              <a:spcBef>
                <a:spcPts val="0"/>
              </a:spcBef>
              <a:spcAft>
                <a:spcPts val="0"/>
              </a:spcAft>
              <a:buClr>
                <a:srgbClr val="000000"/>
              </a:buClr>
              <a:buSzPts val="2900"/>
              <a:buFont typeface="Arial"/>
              <a:buNone/>
            </a:pPr>
            <a:endParaRPr sz="2900">
              <a:latin typeface="Helvetica Neue Light"/>
              <a:ea typeface="Helvetica Neue Light"/>
              <a:cs typeface="Helvetica Neue Light"/>
              <a:sym typeface="Helvetica Neue Light"/>
            </a:endParaRPr>
          </a:p>
          <a:p>
            <a:pPr marL="0" marR="0" lvl="0" indent="0" algn="ctr" rtl="0">
              <a:lnSpc>
                <a:spcPct val="80000"/>
              </a:lnSpc>
              <a:spcBef>
                <a:spcPts val="0"/>
              </a:spcBef>
              <a:spcAft>
                <a:spcPts val="0"/>
              </a:spcAft>
              <a:buClr>
                <a:srgbClr val="000000"/>
              </a:buClr>
              <a:buSzPts val="2900"/>
              <a:buFont typeface="Arial"/>
              <a:buNone/>
            </a:pPr>
            <a:r>
              <a:rPr lang="en-US" sz="2900">
                <a:latin typeface="Helvetica Neue Light"/>
                <a:ea typeface="Helvetica Neue Light"/>
                <a:cs typeface="Helvetica Neue Light"/>
                <a:sym typeface="Helvetica Neue Light"/>
              </a:rPr>
              <a:t>Autor</a:t>
            </a:r>
            <a:r>
              <a:rPr lang="en-US" sz="2900" i="0" u="none" strike="noStrike" cap="none">
                <a:solidFill>
                  <a:srgbClr val="000000"/>
                </a:solidFill>
                <a:latin typeface="Helvetica Neue Light"/>
                <a:ea typeface="Helvetica Neue Light"/>
                <a:cs typeface="Helvetica Neue Light"/>
                <a:sym typeface="Helvetica Neue Light"/>
              </a:rPr>
              <a:t>: </a:t>
            </a:r>
            <a:r>
              <a:rPr lang="en-US" sz="2900" b="1" i="0" u="none" strike="noStrike" cap="none">
                <a:solidFill>
                  <a:srgbClr val="000000"/>
                </a:solidFill>
                <a:latin typeface="Helvetica Neue"/>
                <a:ea typeface="Helvetica Neue"/>
                <a:cs typeface="Helvetica Neue"/>
                <a:sym typeface="Helvetica Neue"/>
              </a:rPr>
              <a:t>Santiago H</a:t>
            </a:r>
            <a:r>
              <a:rPr lang="en-US" sz="2900" b="1">
                <a:latin typeface="Helvetica Neue"/>
                <a:ea typeface="Helvetica Neue"/>
                <a:cs typeface="Helvetica Neue"/>
                <a:sym typeface="Helvetica Neue"/>
              </a:rPr>
              <a:t>ourcade</a:t>
            </a:r>
            <a:endParaRPr>
              <a:latin typeface="Helvetica Neue Light"/>
              <a:ea typeface="Helvetica Neue Light"/>
              <a:cs typeface="Helvetica Neue Light"/>
              <a:sym typeface="Helvetica Neue Light"/>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p:nvPr/>
        </p:nvSpPr>
        <p:spPr>
          <a:xfrm>
            <a:off x="524063" y="1626083"/>
            <a:ext cx="1325700" cy="542400"/>
          </a:xfrm>
          <a:prstGeom prst="rect">
            <a:avLst/>
          </a:prstGeom>
          <a:noFill/>
          <a:ln>
            <a:noFill/>
          </a:ln>
        </p:spPr>
        <p:txBody>
          <a:bodyPr spcFirstLastPara="1" wrap="square" lIns="0" tIns="0" rIns="0" bIns="0" anchor="t" anchorCtr="0">
            <a:noAutofit/>
          </a:bodyPr>
          <a:lstStyle/>
          <a:p>
            <a:pPr marL="228600" marR="0" lvl="0" indent="-254000" algn="l" rtl="0">
              <a:lnSpc>
                <a:spcPct val="90000"/>
              </a:lnSpc>
              <a:spcBef>
                <a:spcPts val="0"/>
              </a:spcBef>
              <a:spcAft>
                <a:spcPts val="0"/>
              </a:spcAft>
              <a:buSzPts val="4000"/>
              <a:buFont typeface="Anton"/>
              <a:buChar char="•"/>
            </a:pPr>
            <a:r>
              <a:rPr lang="en-US" sz="4000">
                <a:latin typeface="Anton"/>
                <a:ea typeface="Anton"/>
                <a:cs typeface="Anton"/>
                <a:sym typeface="Anton"/>
              </a:rPr>
              <a:t> </a:t>
            </a:r>
            <a:r>
              <a:rPr lang="en-US" sz="4000" i="0" u="none" strike="noStrike" cap="none">
                <a:latin typeface="Anton"/>
                <a:ea typeface="Anton"/>
                <a:cs typeface="Anton"/>
                <a:sym typeface="Anton"/>
              </a:rPr>
              <a:t>01</a:t>
            </a:r>
            <a:endParaRPr>
              <a:latin typeface="Anton"/>
              <a:ea typeface="Anton"/>
              <a:cs typeface="Anton"/>
              <a:sym typeface="Anton"/>
            </a:endParaRPr>
          </a:p>
        </p:txBody>
      </p:sp>
      <p:sp>
        <p:nvSpPr>
          <p:cNvPr id="136" name="Google Shape;136;p26"/>
          <p:cNvSpPr txBox="1"/>
          <p:nvPr/>
        </p:nvSpPr>
        <p:spPr>
          <a:xfrm>
            <a:off x="1849626" y="1595648"/>
            <a:ext cx="4927800" cy="6033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FFFFFF"/>
              </a:buClr>
              <a:buSzPts val="2400"/>
              <a:buFont typeface="Arial"/>
              <a:buNone/>
            </a:pPr>
            <a:r>
              <a:rPr lang="en-US" sz="2400" i="0" u="none" strike="noStrike" cap="none">
                <a:solidFill>
                  <a:schemeClr val="dk1"/>
                </a:solidFill>
                <a:latin typeface="Helvetica Neue Light"/>
                <a:ea typeface="Helvetica Neue Light"/>
                <a:cs typeface="Helvetica Neue Light"/>
                <a:sym typeface="Helvetica Neue Light"/>
              </a:rPr>
              <a:t>Contexto, </a:t>
            </a:r>
            <a:r>
              <a:rPr lang="en-US" sz="2400">
                <a:solidFill>
                  <a:schemeClr val="dk1"/>
                </a:solidFill>
                <a:latin typeface="Helvetica Neue Light"/>
                <a:ea typeface="Helvetica Neue Light"/>
                <a:cs typeface="Helvetica Neue Light"/>
                <a:sym typeface="Helvetica Neue Light"/>
              </a:rPr>
              <a:t>Problemática y Objetivo</a:t>
            </a:r>
            <a:endParaRPr sz="2400" i="0" u="none" strike="noStrike" cap="none">
              <a:solidFill>
                <a:srgbClr val="000000"/>
              </a:solidFill>
              <a:latin typeface="Helvetica Neue Light"/>
              <a:ea typeface="Helvetica Neue Light"/>
              <a:cs typeface="Helvetica Neue Light"/>
              <a:sym typeface="Helvetica Neue Light"/>
            </a:endParaRPr>
          </a:p>
        </p:txBody>
      </p:sp>
      <p:cxnSp>
        <p:nvCxnSpPr>
          <p:cNvPr id="137" name="Google Shape;137;p26"/>
          <p:cNvCxnSpPr/>
          <p:nvPr/>
        </p:nvCxnSpPr>
        <p:spPr>
          <a:xfrm>
            <a:off x="1680082" y="1595648"/>
            <a:ext cx="0" cy="603300"/>
          </a:xfrm>
          <a:prstGeom prst="straightConnector1">
            <a:avLst/>
          </a:prstGeom>
          <a:noFill/>
          <a:ln w="12700" cap="flat" cmpd="sng">
            <a:solidFill>
              <a:schemeClr val="dk1"/>
            </a:solidFill>
            <a:prstDash val="solid"/>
            <a:miter lim="800000"/>
            <a:headEnd type="none" w="sm" len="sm"/>
            <a:tailEnd type="none" w="sm" len="sm"/>
          </a:ln>
        </p:spPr>
      </p:cxnSp>
      <p:sp>
        <p:nvSpPr>
          <p:cNvPr id="138" name="Google Shape;138;p26"/>
          <p:cNvSpPr txBox="1"/>
          <p:nvPr/>
        </p:nvSpPr>
        <p:spPr>
          <a:xfrm>
            <a:off x="524063" y="2642959"/>
            <a:ext cx="1325700" cy="542400"/>
          </a:xfrm>
          <a:prstGeom prst="rect">
            <a:avLst/>
          </a:prstGeom>
          <a:noFill/>
          <a:ln>
            <a:noFill/>
          </a:ln>
        </p:spPr>
        <p:txBody>
          <a:bodyPr spcFirstLastPara="1" wrap="square" lIns="0" tIns="0" rIns="0" bIns="0" anchor="t" anchorCtr="0">
            <a:noAutofit/>
          </a:bodyPr>
          <a:lstStyle/>
          <a:p>
            <a:pPr marL="228600" marR="0" lvl="0" indent="-254000" algn="l" rtl="0">
              <a:lnSpc>
                <a:spcPct val="90000"/>
              </a:lnSpc>
              <a:spcBef>
                <a:spcPts val="0"/>
              </a:spcBef>
              <a:spcAft>
                <a:spcPts val="0"/>
              </a:spcAft>
              <a:buSzPts val="4000"/>
              <a:buFont typeface="Anton"/>
              <a:buChar char="•"/>
            </a:pPr>
            <a:r>
              <a:rPr lang="en-US" sz="4000">
                <a:latin typeface="Anton"/>
                <a:ea typeface="Anton"/>
                <a:cs typeface="Anton"/>
                <a:sym typeface="Anton"/>
              </a:rPr>
              <a:t> </a:t>
            </a:r>
            <a:r>
              <a:rPr lang="en-US" sz="4000" i="0" u="none" strike="noStrike" cap="none">
                <a:latin typeface="Anton"/>
                <a:ea typeface="Anton"/>
                <a:cs typeface="Anton"/>
                <a:sym typeface="Anton"/>
              </a:rPr>
              <a:t>02</a:t>
            </a:r>
            <a:endParaRPr>
              <a:latin typeface="Anton"/>
              <a:ea typeface="Anton"/>
              <a:cs typeface="Anton"/>
              <a:sym typeface="Anton"/>
            </a:endParaRPr>
          </a:p>
        </p:txBody>
      </p:sp>
      <p:cxnSp>
        <p:nvCxnSpPr>
          <p:cNvPr id="139" name="Google Shape;139;p26"/>
          <p:cNvCxnSpPr/>
          <p:nvPr/>
        </p:nvCxnSpPr>
        <p:spPr>
          <a:xfrm>
            <a:off x="1680082" y="2612524"/>
            <a:ext cx="0" cy="603300"/>
          </a:xfrm>
          <a:prstGeom prst="straightConnector1">
            <a:avLst/>
          </a:prstGeom>
          <a:noFill/>
          <a:ln w="12700" cap="flat" cmpd="sng">
            <a:solidFill>
              <a:schemeClr val="dk1"/>
            </a:solidFill>
            <a:prstDash val="solid"/>
            <a:miter lim="800000"/>
            <a:headEnd type="none" w="sm" len="sm"/>
            <a:tailEnd type="none" w="sm" len="sm"/>
          </a:ln>
        </p:spPr>
      </p:cxnSp>
      <p:sp>
        <p:nvSpPr>
          <p:cNvPr id="140" name="Google Shape;140;p26"/>
          <p:cNvSpPr txBox="1"/>
          <p:nvPr/>
        </p:nvSpPr>
        <p:spPr>
          <a:xfrm>
            <a:off x="524063" y="3658102"/>
            <a:ext cx="1325700" cy="542400"/>
          </a:xfrm>
          <a:prstGeom prst="rect">
            <a:avLst/>
          </a:prstGeom>
          <a:noFill/>
          <a:ln>
            <a:noFill/>
          </a:ln>
        </p:spPr>
        <p:txBody>
          <a:bodyPr spcFirstLastPara="1" wrap="square" lIns="0" tIns="0" rIns="0" bIns="0" anchor="t" anchorCtr="0">
            <a:noAutofit/>
          </a:bodyPr>
          <a:lstStyle/>
          <a:p>
            <a:pPr marL="228600" marR="0" lvl="0" indent="-254000" algn="l" rtl="0">
              <a:lnSpc>
                <a:spcPct val="90000"/>
              </a:lnSpc>
              <a:spcBef>
                <a:spcPts val="0"/>
              </a:spcBef>
              <a:spcAft>
                <a:spcPts val="0"/>
              </a:spcAft>
              <a:buSzPts val="4000"/>
              <a:buFont typeface="Anton"/>
              <a:buChar char="•"/>
            </a:pPr>
            <a:r>
              <a:rPr lang="en-US" sz="4000">
                <a:latin typeface="Anton"/>
                <a:ea typeface="Anton"/>
                <a:cs typeface="Anton"/>
                <a:sym typeface="Anton"/>
              </a:rPr>
              <a:t> </a:t>
            </a:r>
            <a:r>
              <a:rPr lang="en-US" sz="4000" i="0" u="none" strike="noStrike" cap="none">
                <a:latin typeface="Anton"/>
                <a:ea typeface="Anton"/>
                <a:cs typeface="Anton"/>
                <a:sym typeface="Anton"/>
              </a:rPr>
              <a:t>03</a:t>
            </a:r>
            <a:endParaRPr>
              <a:latin typeface="Anton"/>
              <a:ea typeface="Anton"/>
              <a:cs typeface="Anton"/>
              <a:sym typeface="Anton"/>
            </a:endParaRPr>
          </a:p>
        </p:txBody>
      </p:sp>
      <p:cxnSp>
        <p:nvCxnSpPr>
          <p:cNvPr id="141" name="Google Shape;141;p26"/>
          <p:cNvCxnSpPr/>
          <p:nvPr/>
        </p:nvCxnSpPr>
        <p:spPr>
          <a:xfrm>
            <a:off x="1680082" y="3627667"/>
            <a:ext cx="0" cy="603300"/>
          </a:xfrm>
          <a:prstGeom prst="straightConnector1">
            <a:avLst/>
          </a:prstGeom>
          <a:noFill/>
          <a:ln w="12700" cap="flat" cmpd="sng">
            <a:solidFill>
              <a:schemeClr val="dk1"/>
            </a:solidFill>
            <a:prstDash val="solid"/>
            <a:miter lim="800000"/>
            <a:headEnd type="none" w="sm" len="sm"/>
            <a:tailEnd type="none" w="sm" len="sm"/>
          </a:ln>
        </p:spPr>
      </p:cxnSp>
      <p:sp>
        <p:nvSpPr>
          <p:cNvPr id="142" name="Google Shape;142;p26"/>
          <p:cNvSpPr txBox="1"/>
          <p:nvPr/>
        </p:nvSpPr>
        <p:spPr>
          <a:xfrm>
            <a:off x="388629" y="584201"/>
            <a:ext cx="7637700" cy="552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0000"/>
              </a:buClr>
              <a:buSzPts val="3600"/>
              <a:buFont typeface="Arial"/>
              <a:buNone/>
            </a:pPr>
            <a:r>
              <a:rPr lang="en-US" sz="3600" b="1">
                <a:latin typeface="Anton"/>
                <a:ea typeface="Anton"/>
                <a:cs typeface="Anton"/>
                <a:sym typeface="Anton"/>
              </a:rPr>
              <a:t>Index</a:t>
            </a:r>
            <a:endParaRPr>
              <a:latin typeface="Anton"/>
              <a:ea typeface="Anton"/>
              <a:cs typeface="Anton"/>
              <a:sym typeface="Anton"/>
            </a:endParaRPr>
          </a:p>
        </p:txBody>
      </p:sp>
      <p:sp>
        <p:nvSpPr>
          <p:cNvPr id="143" name="Google Shape;143;p26"/>
          <p:cNvSpPr txBox="1"/>
          <p:nvPr/>
        </p:nvSpPr>
        <p:spPr>
          <a:xfrm>
            <a:off x="1849627" y="3552158"/>
            <a:ext cx="4927800" cy="6033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i="0" u="none" strike="noStrike" cap="none">
                <a:solidFill>
                  <a:schemeClr val="dk1"/>
                </a:solidFill>
                <a:latin typeface="Helvetica Neue Light"/>
                <a:ea typeface="Helvetica Neue Light"/>
                <a:cs typeface="Helvetica Neue Light"/>
                <a:sym typeface="Helvetica Neue Light"/>
              </a:rPr>
              <a:t>Análisis Exploratorio</a:t>
            </a:r>
            <a:endParaRPr sz="2800" i="0" u="none" strike="noStrike" cap="none">
              <a:solidFill>
                <a:schemeClr val="dk1"/>
              </a:solidFill>
              <a:latin typeface="Helvetica Neue Light"/>
              <a:ea typeface="Helvetica Neue Light"/>
              <a:cs typeface="Helvetica Neue Light"/>
              <a:sym typeface="Helvetica Neue Light"/>
            </a:endParaRPr>
          </a:p>
        </p:txBody>
      </p:sp>
      <p:sp>
        <p:nvSpPr>
          <p:cNvPr id="144" name="Google Shape;144;p26"/>
          <p:cNvSpPr txBox="1"/>
          <p:nvPr/>
        </p:nvSpPr>
        <p:spPr>
          <a:xfrm>
            <a:off x="524070" y="4673735"/>
            <a:ext cx="1325700" cy="542400"/>
          </a:xfrm>
          <a:prstGeom prst="rect">
            <a:avLst/>
          </a:prstGeom>
          <a:noFill/>
          <a:ln>
            <a:noFill/>
          </a:ln>
        </p:spPr>
        <p:txBody>
          <a:bodyPr spcFirstLastPara="1" wrap="square" lIns="0" tIns="0" rIns="0" bIns="0" anchor="t" anchorCtr="0">
            <a:noAutofit/>
          </a:bodyPr>
          <a:lstStyle/>
          <a:p>
            <a:pPr marL="228600" marR="0" lvl="0" indent="-254000" algn="l" rtl="0">
              <a:lnSpc>
                <a:spcPct val="90000"/>
              </a:lnSpc>
              <a:spcBef>
                <a:spcPts val="0"/>
              </a:spcBef>
              <a:spcAft>
                <a:spcPts val="0"/>
              </a:spcAft>
              <a:buSzPts val="4000"/>
              <a:buFont typeface="Anton"/>
              <a:buChar char="•"/>
            </a:pPr>
            <a:r>
              <a:rPr lang="en-US" sz="4000">
                <a:latin typeface="Anton"/>
                <a:ea typeface="Anton"/>
                <a:cs typeface="Anton"/>
                <a:sym typeface="Anton"/>
              </a:rPr>
              <a:t> </a:t>
            </a:r>
            <a:r>
              <a:rPr lang="en-US" sz="4000" i="0" u="none" strike="noStrike" cap="none">
                <a:latin typeface="Anton"/>
                <a:ea typeface="Anton"/>
                <a:cs typeface="Anton"/>
                <a:sym typeface="Anton"/>
              </a:rPr>
              <a:t>04</a:t>
            </a:r>
            <a:endParaRPr>
              <a:latin typeface="Anton"/>
              <a:ea typeface="Anton"/>
              <a:cs typeface="Anton"/>
              <a:sym typeface="Anton"/>
            </a:endParaRPr>
          </a:p>
        </p:txBody>
      </p:sp>
      <p:cxnSp>
        <p:nvCxnSpPr>
          <p:cNvPr id="145" name="Google Shape;145;p26"/>
          <p:cNvCxnSpPr/>
          <p:nvPr/>
        </p:nvCxnSpPr>
        <p:spPr>
          <a:xfrm>
            <a:off x="1680082" y="4643312"/>
            <a:ext cx="0" cy="603300"/>
          </a:xfrm>
          <a:prstGeom prst="straightConnector1">
            <a:avLst/>
          </a:prstGeom>
          <a:noFill/>
          <a:ln w="12700" cap="flat" cmpd="sng">
            <a:solidFill>
              <a:schemeClr val="dk1"/>
            </a:solidFill>
            <a:prstDash val="solid"/>
            <a:miter lim="800000"/>
            <a:headEnd type="none" w="sm" len="sm"/>
            <a:tailEnd type="none" w="sm" len="sm"/>
          </a:ln>
        </p:spPr>
      </p:cxnSp>
      <p:sp>
        <p:nvSpPr>
          <p:cNvPr id="146" name="Google Shape;146;p26"/>
          <p:cNvSpPr txBox="1"/>
          <p:nvPr/>
        </p:nvSpPr>
        <p:spPr>
          <a:xfrm>
            <a:off x="1849626" y="2582089"/>
            <a:ext cx="4927800" cy="6033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i="0" u="none" strike="noStrike" cap="none">
                <a:solidFill>
                  <a:schemeClr val="dk1"/>
                </a:solidFill>
                <a:latin typeface="Helvetica Neue Light"/>
                <a:ea typeface="Helvetica Neue Light"/>
                <a:cs typeface="Helvetica Neue Light"/>
                <a:sym typeface="Helvetica Neue Light"/>
              </a:rPr>
              <a:t>Hipótesis/Preguntas de </a:t>
            </a:r>
            <a:r>
              <a:rPr lang="en-US" sz="2400">
                <a:solidFill>
                  <a:schemeClr val="dk1"/>
                </a:solidFill>
                <a:latin typeface="Helvetica Neue Light"/>
                <a:ea typeface="Helvetica Neue Light"/>
                <a:cs typeface="Helvetica Neue Light"/>
                <a:sym typeface="Helvetica Neue Light"/>
              </a:rPr>
              <a:t>Interés</a:t>
            </a:r>
            <a:endParaRPr>
              <a:latin typeface="Helvetica Neue Light"/>
              <a:ea typeface="Helvetica Neue Light"/>
              <a:cs typeface="Helvetica Neue Light"/>
              <a:sym typeface="Helvetica Neue Light"/>
            </a:endParaRPr>
          </a:p>
        </p:txBody>
      </p:sp>
      <p:sp>
        <p:nvSpPr>
          <p:cNvPr id="147" name="Google Shape;147;p26"/>
          <p:cNvSpPr txBox="1"/>
          <p:nvPr/>
        </p:nvSpPr>
        <p:spPr>
          <a:xfrm>
            <a:off x="1849626" y="4592156"/>
            <a:ext cx="4927800" cy="6033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FFFFFF"/>
              </a:buClr>
              <a:buSzPts val="2400"/>
              <a:buFont typeface="Arial"/>
              <a:buNone/>
            </a:pPr>
            <a:r>
              <a:rPr lang="en-US" sz="2400">
                <a:solidFill>
                  <a:schemeClr val="dk1"/>
                </a:solidFill>
                <a:latin typeface="Helvetica Neue Light"/>
                <a:ea typeface="Helvetica Neue Light"/>
                <a:cs typeface="Helvetica Neue Light"/>
                <a:sym typeface="Helvetica Neue Light"/>
              </a:rPr>
              <a:t>Insights</a:t>
            </a:r>
            <a:endParaRPr sz="2400" i="0" u="none" strike="noStrike" cap="none">
              <a:solidFill>
                <a:schemeClr val="dk1"/>
              </a:solidFill>
              <a:latin typeface="Helvetica Neue Light"/>
              <a:ea typeface="Helvetica Neue Light"/>
              <a:cs typeface="Helvetica Neue Light"/>
              <a:sym typeface="Helvetica Neue Light"/>
            </a:endParaRPr>
          </a:p>
        </p:txBody>
      </p:sp>
      <p:pic>
        <p:nvPicPr>
          <p:cNvPr id="148" name="Google Shape;148;p26"/>
          <p:cNvPicPr preferRelativeResize="0"/>
          <p:nvPr/>
        </p:nvPicPr>
        <p:blipFill rotWithShape="1">
          <a:blip r:embed="rId3">
            <a:alphaModFix/>
          </a:blip>
          <a:srcRect r="41595"/>
          <a:stretch/>
        </p:blipFill>
        <p:spPr>
          <a:xfrm>
            <a:off x="6838979" y="0"/>
            <a:ext cx="5340820" cy="6858000"/>
          </a:xfrm>
          <a:prstGeom prst="rect">
            <a:avLst/>
          </a:prstGeom>
          <a:noFill/>
          <a:ln>
            <a:noFill/>
          </a:ln>
        </p:spPr>
      </p:pic>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7"/>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3</a:t>
            </a:fld>
            <a:endParaRPr sz="1050" b="0" i="0" u="none" strike="noStrike" cap="none">
              <a:solidFill>
                <a:srgbClr val="000000"/>
              </a:solidFill>
              <a:latin typeface="Arial"/>
              <a:ea typeface="Arial"/>
              <a:cs typeface="Arial"/>
              <a:sym typeface="Arial"/>
            </a:endParaRPr>
          </a:p>
        </p:txBody>
      </p:sp>
      <p:sp>
        <p:nvSpPr>
          <p:cNvPr id="155" name="Google Shape;155;p27"/>
          <p:cNvSpPr txBox="1"/>
          <p:nvPr/>
        </p:nvSpPr>
        <p:spPr>
          <a:xfrm>
            <a:off x="429592" y="2505670"/>
            <a:ext cx="10857900" cy="221640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Clr>
                <a:srgbClr val="000000"/>
              </a:buClr>
              <a:buSzPts val="6000"/>
              <a:buFont typeface="Arial"/>
              <a:buNone/>
            </a:pPr>
            <a:r>
              <a:rPr lang="en-US" sz="6000"/>
              <a:t>CONTEXTO </a:t>
            </a:r>
            <a:endParaRPr sz="6000"/>
          </a:p>
          <a:p>
            <a:pPr marL="0" marR="0" lvl="0" indent="0" algn="ctr" rtl="0">
              <a:lnSpc>
                <a:spcPct val="80000"/>
              </a:lnSpc>
              <a:spcBef>
                <a:spcPts val="0"/>
              </a:spcBef>
              <a:spcAft>
                <a:spcPts val="0"/>
              </a:spcAft>
              <a:buClr>
                <a:srgbClr val="000000"/>
              </a:buClr>
              <a:buSzPts val="6000"/>
              <a:buFont typeface="Arial"/>
              <a:buNone/>
            </a:pPr>
            <a:r>
              <a:rPr lang="en-US" sz="6000"/>
              <a:t>PROBLEMATICA </a:t>
            </a:r>
            <a:r>
              <a:rPr lang="en-US" sz="6000">
                <a:solidFill>
                  <a:schemeClr val="dk1"/>
                </a:solidFill>
              </a:rPr>
              <a:t>&amp;</a:t>
            </a:r>
            <a:endParaRPr/>
          </a:p>
          <a:p>
            <a:pPr marL="0" marR="0" lvl="0" indent="0" algn="ctr" rtl="0">
              <a:lnSpc>
                <a:spcPct val="80000"/>
              </a:lnSpc>
              <a:spcBef>
                <a:spcPts val="0"/>
              </a:spcBef>
              <a:spcAft>
                <a:spcPts val="0"/>
              </a:spcAft>
              <a:buClr>
                <a:srgbClr val="000000"/>
              </a:buClr>
              <a:buSzPts val="6000"/>
              <a:buFont typeface="Arial"/>
              <a:buNone/>
            </a:pPr>
            <a:r>
              <a:rPr lang="en-US" sz="6000" b="1"/>
              <a:t>OBJETIVO</a:t>
            </a:r>
            <a:endParaRPr sz="6000" b="1"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cxnSp>
        <p:nvCxnSpPr>
          <p:cNvPr id="161" name="Google Shape;161;p28"/>
          <p:cNvCxnSpPr/>
          <p:nvPr/>
        </p:nvCxnSpPr>
        <p:spPr>
          <a:xfrm>
            <a:off x="3238501" y="287524"/>
            <a:ext cx="13883" cy="6231485"/>
          </a:xfrm>
          <a:prstGeom prst="straightConnector1">
            <a:avLst/>
          </a:prstGeom>
          <a:noFill/>
          <a:ln w="12700" cap="flat" cmpd="sng">
            <a:solidFill>
              <a:schemeClr val="dk1"/>
            </a:solidFill>
            <a:prstDash val="solid"/>
            <a:miter lim="800000"/>
            <a:headEnd type="none" w="sm" len="sm"/>
            <a:tailEnd type="none" w="sm" len="sm"/>
          </a:ln>
        </p:spPr>
      </p:cxnSp>
      <p:sp>
        <p:nvSpPr>
          <p:cNvPr id="162" name="Google Shape;162;p28"/>
          <p:cNvSpPr txBox="1"/>
          <p:nvPr/>
        </p:nvSpPr>
        <p:spPr>
          <a:xfrm>
            <a:off x="11506202" y="6519009"/>
            <a:ext cx="685798" cy="20637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4</a:t>
            </a:fld>
            <a:endParaRPr sz="1050" b="0" i="0" u="none" strike="noStrike" cap="none">
              <a:solidFill>
                <a:srgbClr val="000000"/>
              </a:solidFill>
              <a:latin typeface="Arial"/>
              <a:ea typeface="Arial"/>
              <a:cs typeface="Arial"/>
              <a:sym typeface="Arial"/>
            </a:endParaRPr>
          </a:p>
        </p:txBody>
      </p:sp>
      <p:sp>
        <p:nvSpPr>
          <p:cNvPr id="163" name="Google Shape;163;p28"/>
          <p:cNvSpPr txBox="1"/>
          <p:nvPr/>
        </p:nvSpPr>
        <p:spPr>
          <a:xfrm>
            <a:off x="304800" y="2758775"/>
            <a:ext cx="2797800" cy="1034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2800" b="0" i="0" u="none" strike="noStrike" cap="none">
                <a:solidFill>
                  <a:srgbClr val="000000"/>
                </a:solidFill>
                <a:latin typeface="Arial"/>
                <a:ea typeface="Arial"/>
                <a:cs typeface="Arial"/>
                <a:sym typeface="Arial"/>
              </a:rPr>
              <a:t>CONTEXTO, </a:t>
            </a:r>
            <a:endParaRPr sz="2800"/>
          </a:p>
          <a:p>
            <a:pPr marL="0" marR="0" lvl="0" indent="0" algn="l" rtl="0">
              <a:lnSpc>
                <a:spcPct val="80000"/>
              </a:lnSpc>
              <a:spcBef>
                <a:spcPts val="0"/>
              </a:spcBef>
              <a:spcAft>
                <a:spcPts val="0"/>
              </a:spcAft>
              <a:buNone/>
            </a:pPr>
            <a:r>
              <a:rPr lang="en-US" sz="2800"/>
              <a:t>PROBLEMÁTICA Y</a:t>
            </a:r>
            <a:r>
              <a:rPr lang="en-US" sz="2800" b="0" i="0" u="none" strike="noStrike" cap="none">
                <a:solidFill>
                  <a:srgbClr val="000000"/>
                </a:solidFill>
                <a:latin typeface="Arial"/>
                <a:ea typeface="Arial"/>
                <a:cs typeface="Arial"/>
                <a:sym typeface="Arial"/>
              </a:rPr>
              <a:t> </a:t>
            </a:r>
            <a:r>
              <a:rPr lang="en-US" sz="2800" b="1"/>
              <a:t>OBJETIVO</a:t>
            </a:r>
            <a:endParaRPr sz="2800" b="1" i="0" u="none" strike="noStrike" cap="none">
              <a:solidFill>
                <a:srgbClr val="000000"/>
              </a:solidFill>
              <a:latin typeface="Arial"/>
              <a:ea typeface="Arial"/>
              <a:cs typeface="Arial"/>
              <a:sym typeface="Arial"/>
            </a:endParaRPr>
          </a:p>
        </p:txBody>
      </p:sp>
      <p:sp>
        <p:nvSpPr>
          <p:cNvPr id="164" name="Google Shape;164;p28"/>
          <p:cNvSpPr/>
          <p:nvPr/>
        </p:nvSpPr>
        <p:spPr>
          <a:xfrm>
            <a:off x="3619525" y="1145400"/>
            <a:ext cx="8307300" cy="475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i="0" u="none" strike="noStrike" cap="none">
                <a:solidFill>
                  <a:schemeClr val="dk1"/>
                </a:solidFill>
                <a:latin typeface="Helvetica Neue"/>
                <a:ea typeface="Helvetica Neue"/>
                <a:cs typeface="Helvetica Neue"/>
                <a:sym typeface="Helvetica Neue"/>
              </a:rPr>
              <a:t>Contexto</a:t>
            </a:r>
            <a:endParaRPr sz="2200" b="1" i="0" u="none" strike="noStrike" cap="none">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800" b="1">
              <a:solidFill>
                <a:schemeClr val="dk1"/>
              </a:solidFill>
              <a:latin typeface="Helvetica Neue"/>
              <a:ea typeface="Helvetica Neue"/>
              <a:cs typeface="Helvetica Neue"/>
              <a:sym typeface="Helvetica Neue"/>
            </a:endParaRPr>
          </a:p>
          <a:p>
            <a:pPr marL="0" lvl="0" indent="0" algn="l" rtl="0">
              <a:lnSpc>
                <a:spcPct val="135714"/>
              </a:lnSpc>
              <a:spcBef>
                <a:spcPts val="0"/>
              </a:spcBef>
              <a:spcAft>
                <a:spcPts val="0"/>
              </a:spcAft>
              <a:buClr>
                <a:schemeClr val="dk1"/>
              </a:buClr>
              <a:buSzPts val="1100"/>
              <a:buFont typeface="Arial"/>
              <a:buNone/>
            </a:pPr>
            <a:r>
              <a:rPr lang="en-US" sz="1800">
                <a:solidFill>
                  <a:schemeClr val="dk1"/>
                </a:solidFill>
                <a:latin typeface="Helvetica Neue Light"/>
                <a:ea typeface="Helvetica Neue Light"/>
                <a:cs typeface="Helvetica Neue Light"/>
                <a:sym typeface="Helvetica Neue Light"/>
              </a:rPr>
              <a:t>Consultora de Negocios particularmente enfocada en el sector de Real Estate cuyo objetivo es </a:t>
            </a:r>
            <a:r>
              <a:rPr lang="en-US" sz="1800" b="1">
                <a:solidFill>
                  <a:schemeClr val="dk1"/>
                </a:solidFill>
                <a:latin typeface="Helvetica Neue"/>
                <a:ea typeface="Helvetica Neue"/>
                <a:cs typeface="Helvetica Neue"/>
                <a:sym typeface="Helvetica Neue"/>
              </a:rPr>
              <a:t>brindar Asesoramiento</a:t>
            </a:r>
            <a:r>
              <a:rPr lang="en-US" sz="1800">
                <a:solidFill>
                  <a:schemeClr val="dk1"/>
                </a:solidFill>
                <a:latin typeface="Helvetica Neue Light"/>
                <a:ea typeface="Helvetica Neue Light"/>
                <a:cs typeface="Helvetica Neue Light"/>
                <a:sym typeface="Helvetica Neue Light"/>
              </a:rPr>
              <a:t> Financiero a sus clientes con la finalidad de que tomen decisiones de Inversión </a:t>
            </a:r>
            <a:r>
              <a:rPr lang="en-US" sz="1800" b="1">
                <a:solidFill>
                  <a:schemeClr val="dk1"/>
                </a:solidFill>
                <a:latin typeface="Helvetica Neue"/>
                <a:ea typeface="Helvetica Neue"/>
                <a:cs typeface="Helvetica Neue"/>
                <a:sym typeface="Helvetica Neue"/>
              </a:rPr>
              <a:t>que permitan maximizar sus ganancias.</a:t>
            </a:r>
            <a:endParaRPr sz="1800" b="1">
              <a:solidFill>
                <a:schemeClr val="dk1"/>
              </a:solidFill>
              <a:latin typeface="Helvetica Neue"/>
              <a:ea typeface="Helvetica Neue"/>
              <a:cs typeface="Helvetica Neue"/>
              <a:sym typeface="Helvetica Neue"/>
            </a:endParaRPr>
          </a:p>
          <a:p>
            <a:pPr marL="0" lvl="0" indent="0" algn="l" rtl="0">
              <a:lnSpc>
                <a:spcPct val="135714"/>
              </a:lnSpc>
              <a:spcBef>
                <a:spcPts val="0"/>
              </a:spcBef>
              <a:spcAft>
                <a:spcPts val="0"/>
              </a:spcAft>
              <a:buNone/>
            </a:pPr>
            <a:r>
              <a:rPr lang="en-US" sz="1800">
                <a:solidFill>
                  <a:schemeClr val="dk1"/>
                </a:solidFill>
                <a:latin typeface="Helvetica Neue Light"/>
                <a:ea typeface="Helvetica Neue Light"/>
                <a:cs typeface="Helvetica Neue Light"/>
                <a:sym typeface="Helvetica Neue Light"/>
              </a:rPr>
              <a:t>Para ello la consultora se focaliza en ofrecer una orientación a los inversores en la toma de decisiones estratégicas relacionadas con la compra, venta o desarrollo de propiedades proporcionando </a:t>
            </a:r>
            <a:r>
              <a:rPr lang="en-US" sz="1800" b="1">
                <a:solidFill>
                  <a:schemeClr val="dk1"/>
                </a:solidFill>
                <a:latin typeface="Helvetica Neue"/>
                <a:ea typeface="Helvetica Neue"/>
                <a:cs typeface="Helvetica Neue"/>
                <a:sym typeface="Helvetica Neue"/>
              </a:rPr>
              <a:t>recomendaciones basadas en datos</a:t>
            </a:r>
            <a:r>
              <a:rPr lang="en-US" sz="1800">
                <a:solidFill>
                  <a:schemeClr val="dk1"/>
                </a:solidFill>
                <a:latin typeface="Helvetica Neue Light"/>
                <a:ea typeface="Helvetica Neue Light"/>
                <a:cs typeface="Helvetica Neue Light"/>
                <a:sym typeface="Helvetica Neue Light"/>
              </a:rPr>
              <a:t> y conocimientos profesionales de propiedades con la finalidad de determinar su valor en el mercado. Esto implica analizar factores como la ubicación del inmueble, el tamaño y  las características de la vivienda, las tendencias del mercado y otros aspectos relevantes para establecer un valor certero.</a:t>
            </a:r>
            <a:endParaRPr sz="18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endParaRPr sz="1600">
              <a:solidFill>
                <a:schemeClr val="dk1"/>
              </a:solidFill>
              <a:latin typeface="Helvetica Neue Light"/>
              <a:ea typeface="Helvetica Neue Light"/>
              <a:cs typeface="Helvetica Neue Light"/>
              <a:sym typeface="Helvetica Neue Light"/>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cxnSp>
        <p:nvCxnSpPr>
          <p:cNvPr id="170" name="Google Shape;170;p29"/>
          <p:cNvCxnSpPr/>
          <p:nvPr/>
        </p:nvCxnSpPr>
        <p:spPr>
          <a:xfrm>
            <a:off x="3238501" y="287524"/>
            <a:ext cx="13800" cy="6231600"/>
          </a:xfrm>
          <a:prstGeom prst="straightConnector1">
            <a:avLst/>
          </a:prstGeom>
          <a:noFill/>
          <a:ln w="12700" cap="flat" cmpd="sng">
            <a:solidFill>
              <a:schemeClr val="dk1"/>
            </a:solidFill>
            <a:prstDash val="solid"/>
            <a:miter lim="800000"/>
            <a:headEnd type="none" w="sm" len="sm"/>
            <a:tailEnd type="none" w="sm" len="sm"/>
          </a:ln>
        </p:spPr>
      </p:cxnSp>
      <p:sp>
        <p:nvSpPr>
          <p:cNvPr id="171" name="Google Shape;171;p29"/>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5</a:t>
            </a:fld>
            <a:endParaRPr sz="1050" b="0" i="0" u="none" strike="noStrike" cap="none">
              <a:solidFill>
                <a:srgbClr val="000000"/>
              </a:solidFill>
              <a:latin typeface="Arial"/>
              <a:ea typeface="Arial"/>
              <a:cs typeface="Arial"/>
              <a:sym typeface="Arial"/>
            </a:endParaRPr>
          </a:p>
        </p:txBody>
      </p:sp>
      <p:sp>
        <p:nvSpPr>
          <p:cNvPr id="172" name="Google Shape;172;p29"/>
          <p:cNvSpPr txBox="1"/>
          <p:nvPr/>
        </p:nvSpPr>
        <p:spPr>
          <a:xfrm>
            <a:off x="304800" y="2758775"/>
            <a:ext cx="2797800" cy="1034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2800" b="0" i="0" u="none" strike="noStrike" cap="none">
                <a:solidFill>
                  <a:srgbClr val="000000"/>
                </a:solidFill>
                <a:latin typeface="Arial"/>
                <a:ea typeface="Arial"/>
                <a:cs typeface="Arial"/>
                <a:sym typeface="Arial"/>
              </a:rPr>
              <a:t>CONTEXTO, </a:t>
            </a:r>
            <a:endParaRPr sz="2800"/>
          </a:p>
          <a:p>
            <a:pPr marL="0" marR="0" lvl="0" indent="0" algn="l" rtl="0">
              <a:lnSpc>
                <a:spcPct val="80000"/>
              </a:lnSpc>
              <a:spcBef>
                <a:spcPts val="0"/>
              </a:spcBef>
              <a:spcAft>
                <a:spcPts val="0"/>
              </a:spcAft>
              <a:buNone/>
            </a:pPr>
            <a:r>
              <a:rPr lang="en-US" sz="2800"/>
              <a:t>PROBLEMÁTICA Y</a:t>
            </a:r>
            <a:r>
              <a:rPr lang="en-US" sz="2800" b="0" i="0" u="none" strike="noStrike" cap="none">
                <a:solidFill>
                  <a:srgbClr val="000000"/>
                </a:solidFill>
                <a:latin typeface="Arial"/>
                <a:ea typeface="Arial"/>
                <a:cs typeface="Arial"/>
                <a:sym typeface="Arial"/>
              </a:rPr>
              <a:t> </a:t>
            </a:r>
            <a:r>
              <a:rPr lang="en-US" sz="2800" b="1"/>
              <a:t>OBJETIVO</a:t>
            </a:r>
            <a:endParaRPr sz="2800" b="1" i="0" u="none" strike="noStrike" cap="none">
              <a:solidFill>
                <a:srgbClr val="000000"/>
              </a:solidFill>
              <a:latin typeface="Arial"/>
              <a:ea typeface="Arial"/>
              <a:cs typeface="Arial"/>
              <a:sym typeface="Arial"/>
            </a:endParaRPr>
          </a:p>
        </p:txBody>
      </p:sp>
      <p:sp>
        <p:nvSpPr>
          <p:cNvPr id="173" name="Google Shape;173;p29"/>
          <p:cNvSpPr/>
          <p:nvPr/>
        </p:nvSpPr>
        <p:spPr>
          <a:xfrm>
            <a:off x="3507700" y="1386550"/>
            <a:ext cx="8307300" cy="3673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2200" b="1">
                <a:solidFill>
                  <a:schemeClr val="dk1"/>
                </a:solidFill>
                <a:latin typeface="Helvetica Neue"/>
                <a:ea typeface="Helvetica Neue"/>
                <a:cs typeface="Helvetica Neue"/>
                <a:sym typeface="Helvetica Neue"/>
              </a:rPr>
              <a:t>Problematica</a:t>
            </a:r>
            <a:endParaRPr sz="2200" b="1">
              <a:solidFill>
                <a:schemeClr val="dk1"/>
              </a:solidFill>
              <a:latin typeface="Helvetica Neue"/>
              <a:ea typeface="Helvetica Neue"/>
              <a:cs typeface="Helvetica Neue"/>
              <a:sym typeface="Helvetica Neue"/>
            </a:endParaRPr>
          </a:p>
          <a:p>
            <a:pPr marL="0" lvl="0" indent="0" algn="l" rtl="0">
              <a:spcBef>
                <a:spcPts val="0"/>
              </a:spcBef>
              <a:spcAft>
                <a:spcPts val="0"/>
              </a:spcAft>
              <a:buClr>
                <a:schemeClr val="dk1"/>
              </a:buClr>
              <a:buFont typeface="Arial"/>
              <a:buNone/>
            </a:pPr>
            <a:endParaRPr sz="1800" b="1">
              <a:solidFill>
                <a:schemeClr val="dk1"/>
              </a:solidFill>
              <a:latin typeface="Helvetica Neue"/>
              <a:ea typeface="Helvetica Neue"/>
              <a:cs typeface="Helvetica Neue"/>
              <a:sym typeface="Helvetica Neue"/>
            </a:endParaRPr>
          </a:p>
          <a:p>
            <a:pPr marL="0" lvl="0" indent="0" algn="l" rtl="0">
              <a:lnSpc>
                <a:spcPct val="135714"/>
              </a:lnSpc>
              <a:spcBef>
                <a:spcPts val="0"/>
              </a:spcBef>
              <a:spcAft>
                <a:spcPts val="0"/>
              </a:spcAft>
              <a:buNone/>
            </a:pPr>
            <a:r>
              <a:rPr lang="en-US" sz="1800" b="1">
                <a:solidFill>
                  <a:schemeClr val="dk1"/>
                </a:solidFill>
                <a:latin typeface="Helvetica Neue"/>
                <a:ea typeface="Helvetica Neue"/>
                <a:cs typeface="Helvetica Neue"/>
                <a:sym typeface="Helvetica Neue"/>
              </a:rPr>
              <a:t>La crisis subprime</a:t>
            </a:r>
            <a:r>
              <a:rPr lang="en-US" sz="1800">
                <a:solidFill>
                  <a:schemeClr val="dk1"/>
                </a:solidFill>
                <a:latin typeface="Helvetica Neue Light"/>
                <a:ea typeface="Helvetica Neue Light"/>
                <a:cs typeface="Helvetica Neue Light"/>
                <a:sym typeface="Helvetica Neue Light"/>
              </a:rPr>
              <a:t> del 2008 tuvo un impacto significativo en el ambiente de negocios y en la economía global en general. El sector de negocios más afectado por la crisis subprime fue el sector financiero en general, junto a la construcción y el sector inmobiliario que padecieron una disminución drástica  en la demanda de viviendas. La crisis subprime tuvo un fuerte impacto en la confianza de los consumidores respecto al sector. La pérdida de valor de los activos, sumado a la quiebra de instituciones financieras </a:t>
            </a:r>
            <a:r>
              <a:rPr lang="en-US" sz="1800" b="1">
                <a:solidFill>
                  <a:schemeClr val="dk1"/>
                </a:solidFill>
                <a:latin typeface="Helvetica Neue"/>
                <a:ea typeface="Helvetica Neue"/>
                <a:cs typeface="Helvetica Neue"/>
                <a:sym typeface="Helvetica Neue"/>
              </a:rPr>
              <a:t>generó incertidumbre</a:t>
            </a:r>
            <a:r>
              <a:rPr lang="en-US" sz="1800">
                <a:solidFill>
                  <a:schemeClr val="dk1"/>
                </a:solidFill>
                <a:latin typeface="Helvetica Neue Light"/>
                <a:ea typeface="Helvetica Neue Light"/>
                <a:cs typeface="Helvetica Neue Light"/>
                <a:sym typeface="Helvetica Neue Light"/>
              </a:rPr>
              <a:t>.</a:t>
            </a:r>
            <a:endParaRPr sz="1800">
              <a:solidFill>
                <a:schemeClr val="dk1"/>
              </a:solidFill>
              <a:latin typeface="Helvetica Neue Light"/>
              <a:ea typeface="Helvetica Neue Light"/>
              <a:cs typeface="Helvetica Neue Light"/>
              <a:sym typeface="Helvetica Neue Light"/>
            </a:endParaRPr>
          </a:p>
          <a:p>
            <a:pPr marL="457200" marR="0" lvl="0" indent="0" algn="l" rtl="0">
              <a:spcBef>
                <a:spcPts val="0"/>
              </a:spcBef>
              <a:spcAft>
                <a:spcPts val="0"/>
              </a:spcAft>
              <a:buNone/>
            </a:pPr>
            <a:endParaRPr sz="16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Clr>
                <a:schemeClr val="dk1"/>
              </a:buClr>
              <a:buSzPts val="1100"/>
              <a:buFont typeface="Arial"/>
              <a:buNone/>
            </a:pPr>
            <a:endParaRPr sz="1600">
              <a:solidFill>
                <a:schemeClr val="dk1"/>
              </a:solidFill>
              <a:latin typeface="Helvetica Neue Light"/>
              <a:ea typeface="Helvetica Neue Light"/>
              <a:cs typeface="Helvetica Neue Light"/>
              <a:sym typeface="Helvetica Neue Light"/>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cxnSp>
        <p:nvCxnSpPr>
          <p:cNvPr id="179" name="Google Shape;179;p30"/>
          <p:cNvCxnSpPr/>
          <p:nvPr/>
        </p:nvCxnSpPr>
        <p:spPr>
          <a:xfrm>
            <a:off x="3238501" y="287524"/>
            <a:ext cx="13800" cy="6231600"/>
          </a:xfrm>
          <a:prstGeom prst="straightConnector1">
            <a:avLst/>
          </a:prstGeom>
          <a:noFill/>
          <a:ln w="12700" cap="flat" cmpd="sng">
            <a:solidFill>
              <a:schemeClr val="dk1"/>
            </a:solidFill>
            <a:prstDash val="solid"/>
            <a:miter lim="800000"/>
            <a:headEnd type="none" w="sm" len="sm"/>
            <a:tailEnd type="none" w="sm" len="sm"/>
          </a:ln>
        </p:spPr>
      </p:cxnSp>
      <p:sp>
        <p:nvSpPr>
          <p:cNvPr id="180" name="Google Shape;180;p30"/>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6</a:t>
            </a:fld>
            <a:endParaRPr sz="1050" b="0" i="0" u="none" strike="noStrike" cap="none">
              <a:solidFill>
                <a:srgbClr val="000000"/>
              </a:solidFill>
              <a:latin typeface="Arial"/>
              <a:ea typeface="Arial"/>
              <a:cs typeface="Arial"/>
              <a:sym typeface="Arial"/>
            </a:endParaRPr>
          </a:p>
        </p:txBody>
      </p:sp>
      <p:sp>
        <p:nvSpPr>
          <p:cNvPr id="181" name="Google Shape;181;p30"/>
          <p:cNvSpPr txBox="1"/>
          <p:nvPr/>
        </p:nvSpPr>
        <p:spPr>
          <a:xfrm>
            <a:off x="304800" y="2758775"/>
            <a:ext cx="2797800" cy="1034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2800" b="0" i="0" u="none" strike="noStrike" cap="none">
                <a:solidFill>
                  <a:srgbClr val="000000"/>
                </a:solidFill>
                <a:latin typeface="Arial"/>
                <a:ea typeface="Arial"/>
                <a:cs typeface="Arial"/>
                <a:sym typeface="Arial"/>
              </a:rPr>
              <a:t>CONTEXTO, </a:t>
            </a:r>
            <a:endParaRPr sz="2800"/>
          </a:p>
          <a:p>
            <a:pPr marL="0" marR="0" lvl="0" indent="0" algn="l" rtl="0">
              <a:lnSpc>
                <a:spcPct val="80000"/>
              </a:lnSpc>
              <a:spcBef>
                <a:spcPts val="0"/>
              </a:spcBef>
              <a:spcAft>
                <a:spcPts val="0"/>
              </a:spcAft>
              <a:buNone/>
            </a:pPr>
            <a:r>
              <a:rPr lang="en-US" sz="2800"/>
              <a:t>PROBLEMÁTICA Y</a:t>
            </a:r>
            <a:r>
              <a:rPr lang="en-US" sz="2800" b="0" i="0" u="none" strike="noStrike" cap="none">
                <a:solidFill>
                  <a:srgbClr val="000000"/>
                </a:solidFill>
                <a:latin typeface="Arial"/>
                <a:ea typeface="Arial"/>
                <a:cs typeface="Arial"/>
                <a:sym typeface="Arial"/>
              </a:rPr>
              <a:t> </a:t>
            </a:r>
            <a:r>
              <a:rPr lang="en-US" sz="2800" b="1"/>
              <a:t>OBJETIVO</a:t>
            </a:r>
            <a:endParaRPr sz="2800" b="1" i="0" u="none" strike="noStrike" cap="none">
              <a:solidFill>
                <a:srgbClr val="000000"/>
              </a:solidFill>
              <a:latin typeface="Arial"/>
              <a:ea typeface="Arial"/>
              <a:cs typeface="Arial"/>
              <a:sym typeface="Arial"/>
            </a:endParaRPr>
          </a:p>
        </p:txBody>
      </p:sp>
      <p:sp>
        <p:nvSpPr>
          <p:cNvPr id="182" name="Google Shape;182;p30"/>
          <p:cNvSpPr/>
          <p:nvPr/>
        </p:nvSpPr>
        <p:spPr>
          <a:xfrm>
            <a:off x="3583900" y="929341"/>
            <a:ext cx="8103900" cy="556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2200" b="1">
                <a:solidFill>
                  <a:schemeClr val="dk1"/>
                </a:solidFill>
                <a:latin typeface="Helvetica Neue"/>
                <a:ea typeface="Helvetica Neue"/>
                <a:cs typeface="Helvetica Neue"/>
                <a:sym typeface="Helvetica Neue"/>
              </a:rPr>
              <a:t>Objetivo</a:t>
            </a:r>
            <a:endParaRPr sz="2200" b="1">
              <a:solidFill>
                <a:schemeClr val="dk1"/>
              </a:solidFill>
              <a:latin typeface="Helvetica Neue"/>
              <a:ea typeface="Helvetica Neue"/>
              <a:cs typeface="Helvetica Neue"/>
              <a:sym typeface="Helvetica Neue"/>
            </a:endParaRPr>
          </a:p>
          <a:p>
            <a:pPr marL="0" lvl="0" indent="0" algn="l" rtl="0">
              <a:spcBef>
                <a:spcPts val="0"/>
              </a:spcBef>
              <a:spcAft>
                <a:spcPts val="0"/>
              </a:spcAft>
              <a:buClr>
                <a:schemeClr val="dk1"/>
              </a:buClr>
              <a:buFont typeface="Arial"/>
              <a:buNone/>
            </a:pPr>
            <a:endParaRPr sz="1800" b="1">
              <a:solidFill>
                <a:schemeClr val="dk1"/>
              </a:solidFill>
              <a:latin typeface="Helvetica Neue"/>
              <a:ea typeface="Helvetica Neue"/>
              <a:cs typeface="Helvetica Neue"/>
              <a:sym typeface="Helvetica Neue"/>
            </a:endParaRPr>
          </a:p>
          <a:p>
            <a:pPr marL="0" lvl="0" indent="0" algn="l" rtl="0">
              <a:lnSpc>
                <a:spcPct val="135714"/>
              </a:lnSpc>
              <a:spcBef>
                <a:spcPts val="0"/>
              </a:spcBef>
              <a:spcAft>
                <a:spcPts val="0"/>
              </a:spcAft>
              <a:buClr>
                <a:schemeClr val="dk1"/>
              </a:buClr>
              <a:buSzPts val="1100"/>
              <a:buFont typeface="Arial"/>
              <a:buNone/>
            </a:pPr>
            <a:r>
              <a:rPr lang="en-US" sz="1800">
                <a:solidFill>
                  <a:schemeClr val="dk1"/>
                </a:solidFill>
                <a:latin typeface="Helvetica Neue Light"/>
                <a:ea typeface="Helvetica Neue Light"/>
                <a:cs typeface="Helvetica Neue Light"/>
                <a:sym typeface="Helvetica Neue Light"/>
              </a:rPr>
              <a:t>El objetivo del presente proyecto es </a:t>
            </a:r>
            <a:r>
              <a:rPr lang="en-US" sz="1800" b="1">
                <a:solidFill>
                  <a:schemeClr val="dk1"/>
                </a:solidFill>
                <a:latin typeface="Helvetica Neue"/>
                <a:ea typeface="Helvetica Neue"/>
                <a:cs typeface="Helvetica Neue"/>
                <a:sym typeface="Helvetica Neue"/>
              </a:rPr>
              <a:t>reducir la incertidumbre y la volatilidad </a:t>
            </a:r>
            <a:r>
              <a:rPr lang="en-US" sz="1800">
                <a:solidFill>
                  <a:schemeClr val="dk1"/>
                </a:solidFill>
                <a:latin typeface="Helvetica Neue Light"/>
                <a:ea typeface="Helvetica Neue Light"/>
                <a:cs typeface="Helvetica Neue Light"/>
                <a:sym typeface="Helvetica Neue Light"/>
              </a:rPr>
              <a:t>para los inversores y distintos actores del mercado inmobiliario. </a:t>
            </a:r>
            <a:endParaRPr sz="1800">
              <a:solidFill>
                <a:schemeClr val="dk1"/>
              </a:solidFill>
              <a:latin typeface="Helvetica Neue Light"/>
              <a:ea typeface="Helvetica Neue Light"/>
              <a:cs typeface="Helvetica Neue Light"/>
              <a:sym typeface="Helvetica Neue Light"/>
            </a:endParaRPr>
          </a:p>
          <a:p>
            <a:pPr marL="0" lvl="0" indent="0" algn="l" rtl="0">
              <a:lnSpc>
                <a:spcPct val="135714"/>
              </a:lnSpc>
              <a:spcBef>
                <a:spcPts val="0"/>
              </a:spcBef>
              <a:spcAft>
                <a:spcPts val="0"/>
              </a:spcAft>
              <a:buClr>
                <a:schemeClr val="dk1"/>
              </a:buClr>
              <a:buSzPts val="1100"/>
              <a:buFont typeface="Arial"/>
              <a:buNone/>
            </a:pPr>
            <a:r>
              <a:rPr lang="en-US" sz="1800">
                <a:solidFill>
                  <a:schemeClr val="dk1"/>
                </a:solidFill>
                <a:latin typeface="Helvetica Neue Light"/>
                <a:ea typeface="Helvetica Neue Light"/>
                <a:cs typeface="Helvetica Neue Light"/>
                <a:sym typeface="Helvetica Neue Light"/>
              </a:rPr>
              <a:t>Para lograrlo, partiendo de una amplia base de datos se buscará obtener algunos </a:t>
            </a:r>
            <a:r>
              <a:rPr lang="en-US" sz="1800" b="1">
                <a:solidFill>
                  <a:schemeClr val="dk1"/>
                </a:solidFill>
                <a:latin typeface="Helvetica Neue"/>
                <a:ea typeface="Helvetica Neue"/>
                <a:cs typeface="Helvetica Neue"/>
                <a:sym typeface="Helvetica Neue"/>
              </a:rPr>
              <a:t>primeros insights </a:t>
            </a:r>
            <a:r>
              <a:rPr lang="en-US" sz="1800">
                <a:solidFill>
                  <a:schemeClr val="dk1"/>
                </a:solidFill>
                <a:latin typeface="Helvetica Neue Light"/>
                <a:ea typeface="Helvetica Neue Light"/>
                <a:cs typeface="Helvetica Neue Light"/>
                <a:sym typeface="Helvetica Neue Light"/>
              </a:rPr>
              <a:t>para luego generar modelos predictivos con el propósito de inferir el precio de las viviendas.  </a:t>
            </a:r>
            <a:endParaRPr sz="1800">
              <a:solidFill>
                <a:schemeClr val="dk1"/>
              </a:solidFill>
              <a:latin typeface="Helvetica Neue Light"/>
              <a:ea typeface="Helvetica Neue Light"/>
              <a:cs typeface="Helvetica Neue Light"/>
              <a:sym typeface="Helvetica Neue Light"/>
            </a:endParaRPr>
          </a:p>
          <a:p>
            <a:pPr marL="0" lvl="0" indent="0" algn="l" rtl="0">
              <a:lnSpc>
                <a:spcPct val="135714"/>
              </a:lnSpc>
              <a:spcBef>
                <a:spcPts val="0"/>
              </a:spcBef>
              <a:spcAft>
                <a:spcPts val="0"/>
              </a:spcAft>
              <a:buClr>
                <a:schemeClr val="dk1"/>
              </a:buClr>
              <a:buSzPts val="1100"/>
              <a:buFont typeface="Arial"/>
              <a:buNone/>
            </a:pPr>
            <a:r>
              <a:rPr lang="en-US" sz="1800">
                <a:solidFill>
                  <a:schemeClr val="dk1"/>
                </a:solidFill>
                <a:latin typeface="Helvetica Neue Light"/>
                <a:ea typeface="Helvetica Neue Light"/>
                <a:cs typeface="Helvetica Neue Light"/>
                <a:sym typeface="Helvetica Neue Light"/>
              </a:rPr>
              <a:t>Mediante el análisis que arrojan los primeros insights se podrá </a:t>
            </a:r>
            <a:r>
              <a:rPr lang="en-US" sz="1800" b="1">
                <a:solidFill>
                  <a:schemeClr val="dk1"/>
                </a:solidFill>
                <a:latin typeface="Helvetica Neue"/>
                <a:ea typeface="Helvetica Neue"/>
                <a:cs typeface="Helvetica Neue"/>
                <a:sym typeface="Helvetica Neue"/>
              </a:rPr>
              <a:t>generar algunas conclusiones preliminares </a:t>
            </a:r>
            <a:r>
              <a:rPr lang="en-US" sz="1800">
                <a:solidFill>
                  <a:schemeClr val="dk1"/>
                </a:solidFill>
                <a:latin typeface="Helvetica Neue Light"/>
                <a:ea typeface="Helvetica Neue Light"/>
                <a:cs typeface="Helvetica Neue Light"/>
                <a:sym typeface="Helvetica Neue Light"/>
              </a:rPr>
              <a:t>mientras que con la aplicación de modelos predictivos se busca brindar información más precisa y confiable sobre el valor de las propiedades. </a:t>
            </a:r>
            <a:endParaRPr sz="1800">
              <a:solidFill>
                <a:schemeClr val="dk1"/>
              </a:solidFill>
              <a:latin typeface="Helvetica Neue Light"/>
              <a:ea typeface="Helvetica Neue Light"/>
              <a:cs typeface="Helvetica Neue Light"/>
              <a:sym typeface="Helvetica Neue Light"/>
            </a:endParaRPr>
          </a:p>
          <a:p>
            <a:pPr marL="0" lvl="0" indent="0" algn="l" rtl="0">
              <a:lnSpc>
                <a:spcPct val="135714"/>
              </a:lnSpc>
              <a:spcBef>
                <a:spcPts val="0"/>
              </a:spcBef>
              <a:spcAft>
                <a:spcPts val="0"/>
              </a:spcAft>
              <a:buClr>
                <a:schemeClr val="dk1"/>
              </a:buClr>
              <a:buSzPts val="1100"/>
              <a:buFont typeface="Arial"/>
              <a:buNone/>
            </a:pPr>
            <a:r>
              <a:rPr lang="en-US" sz="1800">
                <a:solidFill>
                  <a:schemeClr val="dk1"/>
                </a:solidFill>
                <a:latin typeface="Helvetica Neue Light"/>
                <a:ea typeface="Helvetica Neue Light"/>
                <a:cs typeface="Helvetica Neue Light"/>
                <a:sym typeface="Helvetica Neue Light"/>
              </a:rPr>
              <a:t>El objetivo es permitir a  los inversores tomar decisiones más acertadas y fundamentadas y así evaluar mejores oportunidades de inversión reduciendo los riesgos asociados en la compra o venta de propiedades.</a:t>
            </a:r>
            <a:endParaRPr sz="12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endParaRPr sz="1600">
              <a:solidFill>
                <a:schemeClr val="dk1"/>
              </a:solidFill>
              <a:latin typeface="Helvetica Neue Light"/>
              <a:ea typeface="Helvetica Neue Light"/>
              <a:cs typeface="Helvetica Neue Light"/>
              <a:sym typeface="Helvetica Neue Light"/>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7</a:t>
            </a:fld>
            <a:endParaRPr sz="1050" b="0" i="0" u="none" strike="noStrike" cap="none">
              <a:solidFill>
                <a:srgbClr val="000000"/>
              </a:solidFill>
              <a:latin typeface="Arial"/>
              <a:ea typeface="Arial"/>
              <a:cs typeface="Arial"/>
              <a:sym typeface="Arial"/>
            </a:endParaRPr>
          </a:p>
        </p:txBody>
      </p:sp>
      <p:sp>
        <p:nvSpPr>
          <p:cNvPr id="189" name="Google Shape;189;p31"/>
          <p:cNvSpPr txBox="1"/>
          <p:nvPr/>
        </p:nvSpPr>
        <p:spPr>
          <a:xfrm>
            <a:off x="429592" y="2505670"/>
            <a:ext cx="10857900" cy="221640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Clr>
                <a:srgbClr val="000000"/>
              </a:buClr>
              <a:buSzPts val="6000"/>
              <a:buFont typeface="Arial"/>
              <a:buNone/>
            </a:pPr>
            <a:r>
              <a:rPr lang="en-US" sz="6000"/>
              <a:t>HIPOTESIS </a:t>
            </a:r>
            <a:r>
              <a:rPr lang="en-US" sz="6000">
                <a:solidFill>
                  <a:schemeClr val="dk1"/>
                </a:solidFill>
              </a:rPr>
              <a:t>&amp;</a:t>
            </a:r>
            <a:endParaRPr sz="6000"/>
          </a:p>
          <a:p>
            <a:pPr marL="0" marR="0" lvl="0" indent="0" algn="ctr" rtl="0">
              <a:lnSpc>
                <a:spcPct val="80000"/>
              </a:lnSpc>
              <a:spcBef>
                <a:spcPts val="0"/>
              </a:spcBef>
              <a:spcAft>
                <a:spcPts val="0"/>
              </a:spcAft>
              <a:buClr>
                <a:srgbClr val="000000"/>
              </a:buClr>
              <a:buSzPts val="6000"/>
              <a:buFont typeface="Arial"/>
              <a:buNone/>
            </a:pPr>
            <a:r>
              <a:rPr lang="en-US" sz="6000"/>
              <a:t>PREGUNTAS</a:t>
            </a:r>
            <a:endParaRPr/>
          </a:p>
          <a:p>
            <a:pPr marL="0" marR="0" lvl="0" indent="0" algn="ctr" rtl="0">
              <a:lnSpc>
                <a:spcPct val="80000"/>
              </a:lnSpc>
              <a:spcBef>
                <a:spcPts val="0"/>
              </a:spcBef>
              <a:spcAft>
                <a:spcPts val="0"/>
              </a:spcAft>
              <a:buClr>
                <a:srgbClr val="000000"/>
              </a:buClr>
              <a:buSzPts val="6000"/>
              <a:buFont typeface="Arial"/>
              <a:buNone/>
            </a:pPr>
            <a:r>
              <a:rPr lang="en-US" sz="6000" b="1"/>
              <a:t>DE INTERES</a:t>
            </a:r>
            <a:endParaRPr sz="6000" b="1"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cxnSp>
        <p:nvCxnSpPr>
          <p:cNvPr id="195" name="Google Shape;195;p32"/>
          <p:cNvCxnSpPr/>
          <p:nvPr/>
        </p:nvCxnSpPr>
        <p:spPr>
          <a:xfrm>
            <a:off x="3238501" y="287524"/>
            <a:ext cx="13883" cy="6231485"/>
          </a:xfrm>
          <a:prstGeom prst="straightConnector1">
            <a:avLst/>
          </a:prstGeom>
          <a:noFill/>
          <a:ln w="12700" cap="flat" cmpd="sng">
            <a:solidFill>
              <a:schemeClr val="dk1"/>
            </a:solidFill>
            <a:prstDash val="solid"/>
            <a:miter lim="800000"/>
            <a:headEnd type="none" w="sm" len="sm"/>
            <a:tailEnd type="none" w="sm" len="sm"/>
          </a:ln>
        </p:spPr>
      </p:cxnSp>
      <p:sp>
        <p:nvSpPr>
          <p:cNvPr id="196" name="Google Shape;196;p32"/>
          <p:cNvSpPr txBox="1"/>
          <p:nvPr/>
        </p:nvSpPr>
        <p:spPr>
          <a:xfrm>
            <a:off x="11506202" y="6519009"/>
            <a:ext cx="685798" cy="20637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8</a:t>
            </a:fld>
            <a:endParaRPr sz="1050" b="0" i="0" u="none" strike="noStrike" cap="none">
              <a:solidFill>
                <a:srgbClr val="000000"/>
              </a:solidFill>
              <a:latin typeface="Arial"/>
              <a:ea typeface="Arial"/>
              <a:cs typeface="Arial"/>
              <a:sym typeface="Arial"/>
            </a:endParaRPr>
          </a:p>
        </p:txBody>
      </p:sp>
      <p:sp>
        <p:nvSpPr>
          <p:cNvPr id="197" name="Google Shape;197;p32"/>
          <p:cNvSpPr txBox="1"/>
          <p:nvPr/>
        </p:nvSpPr>
        <p:spPr>
          <a:xfrm>
            <a:off x="384622" y="2758763"/>
            <a:ext cx="2718000" cy="1034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PREGUNTAS DE</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800" b="1"/>
              <a:t>INTERÉS</a:t>
            </a:r>
            <a:endParaRPr sz="2800" b="1" i="0" u="none" strike="noStrike" cap="none">
              <a:solidFill>
                <a:srgbClr val="000000"/>
              </a:solidFill>
              <a:latin typeface="Arial"/>
              <a:ea typeface="Arial"/>
              <a:cs typeface="Arial"/>
              <a:sym typeface="Arial"/>
            </a:endParaRPr>
          </a:p>
        </p:txBody>
      </p:sp>
      <p:sp>
        <p:nvSpPr>
          <p:cNvPr id="198" name="Google Shape;198;p32"/>
          <p:cNvSpPr/>
          <p:nvPr/>
        </p:nvSpPr>
        <p:spPr>
          <a:xfrm>
            <a:off x="3509350" y="2605725"/>
            <a:ext cx="8103900" cy="2708700"/>
          </a:xfrm>
          <a:prstGeom prst="rect">
            <a:avLst/>
          </a:prstGeom>
          <a:noFill/>
          <a:ln>
            <a:noFill/>
          </a:ln>
        </p:spPr>
        <p:txBody>
          <a:bodyPr spcFirstLastPara="1" wrap="square" lIns="91425" tIns="45700" rIns="91425" bIns="45700" anchor="ctr" anchorCtr="0">
            <a:noAutofit/>
          </a:bodyPr>
          <a:lstStyle/>
          <a:p>
            <a:pPr marL="457200" lvl="0" indent="0" algn="l" rtl="0">
              <a:spcBef>
                <a:spcPts val="0"/>
              </a:spcBef>
              <a:spcAft>
                <a:spcPts val="0"/>
              </a:spcAft>
              <a:buNone/>
            </a:pPr>
            <a:endParaRPr sz="1800" b="1">
              <a:solidFill>
                <a:schemeClr val="dk1"/>
              </a:solidFill>
              <a:latin typeface="Helvetica Neue"/>
              <a:ea typeface="Helvetica Neue"/>
              <a:cs typeface="Helvetica Neue"/>
              <a:sym typeface="Helvetica Neue"/>
            </a:endParaRPr>
          </a:p>
          <a:p>
            <a:pPr marL="0" lvl="0" indent="0" algn="l" rtl="0">
              <a:spcBef>
                <a:spcPts val="0"/>
              </a:spcBef>
              <a:spcAft>
                <a:spcPts val="0"/>
              </a:spcAft>
              <a:buNone/>
            </a:pPr>
            <a:r>
              <a:rPr lang="en-US" sz="1800" b="1">
                <a:solidFill>
                  <a:schemeClr val="dk1"/>
                </a:solidFill>
                <a:latin typeface="Helvetica Neue"/>
                <a:ea typeface="Helvetica Neue"/>
                <a:cs typeface="Helvetica Neue"/>
                <a:sym typeface="Helvetica Neue"/>
              </a:rPr>
              <a:t>Preguntas de interes </a:t>
            </a:r>
            <a:endParaRPr sz="1800" b="1">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Light"/>
              <a:buChar char="●"/>
            </a:pPr>
            <a:r>
              <a:rPr lang="en-US" sz="1800">
                <a:solidFill>
                  <a:schemeClr val="dk1"/>
                </a:solidFill>
                <a:latin typeface="Helvetica Neue Light"/>
                <a:ea typeface="Helvetica Neue Light"/>
                <a:cs typeface="Helvetica Neue Light"/>
                <a:sym typeface="Helvetica Neue Light"/>
              </a:rPr>
              <a:t>¿Cómo es la distribución de precios de las viviendas? </a:t>
            </a: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Light"/>
              <a:buChar char="●"/>
            </a:pPr>
            <a:r>
              <a:rPr lang="en-US" sz="1800">
                <a:solidFill>
                  <a:schemeClr val="dk1"/>
                </a:solidFill>
                <a:latin typeface="Helvetica Neue Light"/>
                <a:ea typeface="Helvetica Neue Light"/>
                <a:cs typeface="Helvetica Neue Light"/>
                <a:sym typeface="Helvetica Neue Light"/>
              </a:rPr>
              <a:t>¿Existe un cambio significativo del precio de las viviendas en el tiempo?</a:t>
            </a: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Light"/>
              <a:buChar char="●"/>
            </a:pPr>
            <a:r>
              <a:rPr lang="en-US" sz="1800">
                <a:solidFill>
                  <a:schemeClr val="dk1"/>
                </a:solidFill>
                <a:latin typeface="Helvetica Neue Light"/>
                <a:ea typeface="Helvetica Neue Light"/>
                <a:cs typeface="Helvetica Neue Light"/>
                <a:sym typeface="Helvetica Neue Light"/>
              </a:rPr>
              <a:t>¿Cuales son las características principales de las viviendas?</a:t>
            </a: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Light"/>
              <a:buChar char="●"/>
            </a:pPr>
            <a:r>
              <a:rPr lang="en-US" sz="1800">
                <a:solidFill>
                  <a:schemeClr val="dk1"/>
                </a:solidFill>
                <a:latin typeface="Helvetica Neue Light"/>
                <a:ea typeface="Helvetica Neue Light"/>
                <a:cs typeface="Helvetica Neue Light"/>
                <a:sym typeface="Helvetica Neue Light"/>
              </a:rPr>
              <a:t>¿Cual es la relación entre el precio promedio de las viviendas y el tamaño de las mismas?</a:t>
            </a: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Light"/>
              <a:buChar char="●"/>
            </a:pPr>
            <a:r>
              <a:rPr lang="en-US" sz="1800">
                <a:solidFill>
                  <a:schemeClr val="dk1"/>
                </a:solidFill>
                <a:latin typeface="Helvetica Neue Light"/>
                <a:ea typeface="Helvetica Neue Light"/>
                <a:cs typeface="Helvetica Neue Light"/>
                <a:sym typeface="Helvetica Neue Light"/>
              </a:rPr>
              <a:t>¿Cual es la relación entre el precio promedio de las viviendas y la ondición de la misma?</a:t>
            </a: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Light"/>
              <a:buChar char="●"/>
            </a:pPr>
            <a:r>
              <a:rPr lang="en-US" sz="1800">
                <a:solidFill>
                  <a:schemeClr val="dk1"/>
                </a:solidFill>
                <a:latin typeface="Helvetica Neue Light"/>
                <a:ea typeface="Helvetica Neue Light"/>
                <a:cs typeface="Helvetica Neue Light"/>
                <a:sym typeface="Helvetica Neue Light"/>
              </a:rPr>
              <a:t>¿El precio de la propiedad se ve afectado si la vivienda fue renovada?</a:t>
            </a:r>
            <a:endParaRPr sz="1800">
              <a:solidFill>
                <a:schemeClr val="dk1"/>
              </a:solidFill>
              <a:latin typeface="Helvetica Neue Light"/>
              <a:ea typeface="Helvetica Neue Light"/>
              <a:cs typeface="Helvetica Neue Light"/>
              <a:sym typeface="Helvetica Neue Light"/>
            </a:endParaRPr>
          </a:p>
          <a:p>
            <a:pPr marL="457200" lvl="0" indent="0" algn="l" rtl="0">
              <a:spcBef>
                <a:spcPts val="0"/>
              </a:spcBef>
              <a:spcAft>
                <a:spcPts val="0"/>
              </a:spcAft>
              <a:buNone/>
            </a:pPr>
            <a:endParaRPr sz="1800">
              <a:solidFill>
                <a:schemeClr val="dk1"/>
              </a:solidFill>
              <a:latin typeface="Helvetica Neue Light"/>
              <a:ea typeface="Helvetica Neue Light"/>
              <a:cs typeface="Helvetica Neue Light"/>
              <a:sym typeface="Helvetica Neue Light"/>
            </a:endParaRPr>
          </a:p>
        </p:txBody>
      </p:sp>
      <p:sp>
        <p:nvSpPr>
          <p:cNvPr id="199" name="Google Shape;199;p32"/>
          <p:cNvSpPr/>
          <p:nvPr/>
        </p:nvSpPr>
        <p:spPr>
          <a:xfrm>
            <a:off x="3509350" y="1143823"/>
            <a:ext cx="8103900" cy="15447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1800" b="1">
                <a:solidFill>
                  <a:schemeClr val="dk1"/>
                </a:solidFill>
                <a:latin typeface="Helvetica Neue"/>
                <a:ea typeface="Helvetica Neue"/>
                <a:cs typeface="Helvetica Neue"/>
                <a:sym typeface="Helvetica Neue"/>
              </a:rPr>
              <a:t>Aspectos a analizar</a:t>
            </a:r>
            <a:endParaRPr sz="1800" b="1">
              <a:solidFill>
                <a:schemeClr val="dk1"/>
              </a:solidFill>
              <a:latin typeface="Helvetica Neue"/>
              <a:ea typeface="Helvetica Neue"/>
              <a:cs typeface="Helvetica Neue"/>
              <a:sym typeface="Helvetica Neue"/>
            </a:endParaRPr>
          </a:p>
          <a:p>
            <a:pPr marL="457200" lvl="0" indent="-342900" algn="l" rtl="0">
              <a:spcBef>
                <a:spcPts val="0"/>
              </a:spcBef>
              <a:spcAft>
                <a:spcPts val="0"/>
              </a:spcAft>
              <a:buClr>
                <a:schemeClr val="dk1"/>
              </a:buClr>
              <a:buSzPts val="1800"/>
              <a:buFont typeface="Helvetica Neue Light"/>
              <a:buAutoNum type="arabicPeriod"/>
            </a:pPr>
            <a:r>
              <a:rPr lang="en-US" sz="1800">
                <a:solidFill>
                  <a:schemeClr val="dk1"/>
                </a:solidFill>
                <a:latin typeface="Helvetica Neue Light"/>
                <a:ea typeface="Helvetica Neue Light"/>
                <a:cs typeface="Helvetica Neue Light"/>
                <a:sym typeface="Helvetica Neue Light"/>
              </a:rPr>
              <a:t>Características de las viviendas en EEUU</a:t>
            </a: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Light"/>
              <a:buAutoNum type="arabicPeriod"/>
            </a:pPr>
            <a:r>
              <a:rPr lang="en-US" sz="1800">
                <a:solidFill>
                  <a:schemeClr val="dk1"/>
                </a:solidFill>
                <a:latin typeface="Helvetica Neue Light"/>
                <a:ea typeface="Helvetica Neue Light"/>
                <a:cs typeface="Helvetica Neue Light"/>
                <a:sym typeface="Helvetica Neue Light"/>
              </a:rPr>
              <a:t>Análisis del  Precio de las propiedades</a:t>
            </a: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Light"/>
              <a:buAutoNum type="arabicPeriod"/>
            </a:pPr>
            <a:r>
              <a:rPr lang="en-US" sz="1800">
                <a:solidFill>
                  <a:schemeClr val="dk1"/>
                </a:solidFill>
                <a:latin typeface="Helvetica Neue Light"/>
                <a:ea typeface="Helvetica Neue Light"/>
                <a:cs typeface="Helvetica Neue Light"/>
                <a:sym typeface="Helvetica Neue Light"/>
              </a:rPr>
              <a:t>Relación existe entre el Precio y las Características de los inmuebles </a:t>
            </a:r>
            <a:endParaRPr sz="1800">
              <a:solidFill>
                <a:schemeClr val="dk1"/>
              </a:solidFill>
              <a:latin typeface="Helvetica Neue Light"/>
              <a:ea typeface="Helvetica Neue Light"/>
              <a:cs typeface="Helvetica Neue Light"/>
              <a:sym typeface="Helvetica Neue Light"/>
            </a:endParaRPr>
          </a:p>
          <a:p>
            <a:pPr marL="457200" lvl="0" indent="0" algn="l" rtl="0">
              <a:spcBef>
                <a:spcPts val="0"/>
              </a:spcBef>
              <a:spcAft>
                <a:spcPts val="0"/>
              </a:spcAft>
              <a:buNone/>
            </a:pPr>
            <a:endParaRPr sz="1800">
              <a:solidFill>
                <a:schemeClr val="dk1"/>
              </a:solidFill>
              <a:latin typeface="Helvetica Neue Light"/>
              <a:ea typeface="Helvetica Neue Light"/>
              <a:cs typeface="Helvetica Neue Light"/>
              <a:sym typeface="Helvetica Neue Light"/>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3"/>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9</a:t>
            </a:fld>
            <a:endParaRPr sz="1050" b="0" i="0" u="none" strike="noStrike" cap="none">
              <a:solidFill>
                <a:srgbClr val="000000"/>
              </a:solidFill>
              <a:latin typeface="Arial"/>
              <a:ea typeface="Arial"/>
              <a:cs typeface="Arial"/>
              <a:sym typeface="Arial"/>
            </a:endParaRPr>
          </a:p>
        </p:txBody>
      </p:sp>
      <p:sp>
        <p:nvSpPr>
          <p:cNvPr id="206" name="Google Shape;206;p33"/>
          <p:cNvSpPr txBox="1"/>
          <p:nvPr/>
        </p:nvSpPr>
        <p:spPr>
          <a:xfrm>
            <a:off x="429592" y="2505670"/>
            <a:ext cx="10857900" cy="147780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Clr>
                <a:srgbClr val="000000"/>
              </a:buClr>
              <a:buSzPts val="6000"/>
              <a:buFont typeface="Arial"/>
              <a:buNone/>
            </a:pPr>
            <a:r>
              <a:rPr lang="en-US" sz="6000"/>
              <a:t>ANÁLISIS</a:t>
            </a:r>
            <a:r>
              <a:rPr lang="en-US" sz="6000" b="0" i="0" u="none" strike="noStrike" cap="none">
                <a:solidFill>
                  <a:srgbClr val="000000"/>
                </a:solidFill>
                <a:latin typeface="Arial"/>
                <a:ea typeface="Arial"/>
                <a:cs typeface="Arial"/>
                <a:sym typeface="Arial"/>
              </a:rPr>
              <a:t> </a:t>
            </a:r>
            <a:endParaRPr/>
          </a:p>
          <a:p>
            <a:pPr marL="0" marR="0" lvl="0" indent="0" algn="ctr" rtl="0">
              <a:lnSpc>
                <a:spcPct val="80000"/>
              </a:lnSpc>
              <a:spcBef>
                <a:spcPts val="0"/>
              </a:spcBef>
              <a:spcAft>
                <a:spcPts val="0"/>
              </a:spcAft>
              <a:buClr>
                <a:srgbClr val="000000"/>
              </a:buClr>
              <a:buSzPts val="6000"/>
              <a:buFont typeface="Arial"/>
              <a:buNone/>
            </a:pPr>
            <a:r>
              <a:rPr lang="en-US" sz="6000" b="1"/>
              <a:t>EXPLORATORIO</a:t>
            </a:r>
            <a:endParaRPr sz="6000" b="1"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10</a:t>
            </a:fld>
            <a:endParaRPr sz="1050" b="0" i="0" u="none" strike="noStrike" cap="none">
              <a:solidFill>
                <a:srgbClr val="000000"/>
              </a:solidFill>
              <a:latin typeface="Arial"/>
              <a:ea typeface="Arial"/>
              <a:cs typeface="Arial"/>
              <a:sym typeface="Arial"/>
            </a:endParaRPr>
          </a:p>
        </p:txBody>
      </p:sp>
      <p:sp>
        <p:nvSpPr>
          <p:cNvPr id="213" name="Google Shape;213;p34"/>
          <p:cNvSpPr/>
          <p:nvPr/>
        </p:nvSpPr>
        <p:spPr>
          <a:xfrm>
            <a:off x="480875" y="1708125"/>
            <a:ext cx="10911900" cy="23214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Hipotesis:</a:t>
            </a:r>
            <a:r>
              <a:rPr lang="en-US">
                <a:solidFill>
                  <a:schemeClr val="dk1"/>
                </a:solidFill>
                <a:latin typeface="DM Sans"/>
                <a:ea typeface="DM Sans"/>
                <a:cs typeface="DM Sans"/>
                <a:sym typeface="DM Sans"/>
              </a:rPr>
              <a:t> ¿Cuales son las características principales de las viviendas en cuanto a la </a:t>
            </a:r>
            <a:r>
              <a:rPr lang="en-US" b="1">
                <a:solidFill>
                  <a:schemeClr val="dk1"/>
                </a:solidFill>
                <a:latin typeface="DM Sans"/>
                <a:ea typeface="DM Sans"/>
                <a:cs typeface="DM Sans"/>
                <a:sym typeface="DM Sans"/>
              </a:rPr>
              <a:t>cantidad de habitaciones, baños y pisos</a:t>
            </a:r>
            <a:r>
              <a:rPr lang="en-US">
                <a:solidFill>
                  <a:schemeClr val="dk1"/>
                </a:solidFill>
                <a:latin typeface="DM Sans"/>
                <a:ea typeface="DM Sans"/>
                <a:cs typeface="DM Sans"/>
                <a:sym typeface="DM Sans"/>
              </a:rPr>
              <a:t>?</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Conclusion</a:t>
            </a:r>
            <a:r>
              <a:rPr lang="en-US">
                <a:solidFill>
                  <a:schemeClr val="dk1"/>
                </a:solidFill>
                <a:latin typeface="DM Sans"/>
                <a:ea typeface="DM Sans"/>
                <a:cs typeface="DM Sans"/>
                <a:sym typeface="DM Sans"/>
              </a:rPr>
              <a:t>: Del análisis exploratorio de frecuencias en términos absolutos podemos inferir que existe una </a:t>
            </a:r>
            <a:r>
              <a:rPr lang="en-US" b="1">
                <a:solidFill>
                  <a:schemeClr val="dk1"/>
                </a:solidFill>
                <a:latin typeface="DM Sans"/>
                <a:ea typeface="DM Sans"/>
                <a:cs typeface="DM Sans"/>
                <a:sym typeface="DM Sans"/>
              </a:rPr>
              <a:t>alta concentración de viviendas que cuentan con  3  o 4 habitaciones</a:t>
            </a:r>
            <a:r>
              <a:rPr lang="en-US">
                <a:solidFill>
                  <a:schemeClr val="dk1"/>
                </a:solidFill>
                <a:latin typeface="DM Sans"/>
                <a:ea typeface="DM Sans"/>
                <a:cs typeface="DM Sans"/>
                <a:sym typeface="DM Sans"/>
              </a:rPr>
              <a:t>, y en menor medida se ubican las propiedades con 2 y 5 Dormitorios.</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Respecto a los sanitarios se observa una </a:t>
            </a:r>
            <a:r>
              <a:rPr lang="en-US" b="1">
                <a:solidFill>
                  <a:schemeClr val="dk1"/>
                </a:solidFill>
                <a:latin typeface="DM Sans"/>
                <a:ea typeface="DM Sans"/>
                <a:cs typeface="DM Sans"/>
                <a:sym typeface="DM Sans"/>
              </a:rPr>
              <a:t>alta densidad de inmuebles con 1 o 2 baños  </a:t>
            </a:r>
            <a:r>
              <a:rPr lang="en-US">
                <a:solidFill>
                  <a:schemeClr val="dk1"/>
                </a:solidFill>
                <a:latin typeface="DM Sans"/>
                <a:ea typeface="DM Sans"/>
                <a:cs typeface="DM Sans"/>
                <a:sym typeface="DM Sans"/>
              </a:rPr>
              <a:t>En cuanto a la la cantidad de pisos, las </a:t>
            </a:r>
            <a:r>
              <a:rPr lang="en-US" b="1">
                <a:solidFill>
                  <a:schemeClr val="dk1"/>
                </a:solidFill>
                <a:latin typeface="DM Sans"/>
                <a:ea typeface="DM Sans"/>
                <a:cs typeface="DM Sans"/>
                <a:sym typeface="DM Sans"/>
              </a:rPr>
              <a:t>propiedades con 1 o 2 pisos representan una mayoría, prácticamente, absoluta. </a:t>
            </a:r>
            <a:endParaRPr b="1">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endParaRPr>
              <a:solidFill>
                <a:schemeClr val="dk1"/>
              </a:solidFill>
              <a:latin typeface="DM Sans"/>
              <a:ea typeface="DM Sans"/>
              <a:cs typeface="DM Sans"/>
              <a:sym typeface="DM Sans"/>
            </a:endParaRPr>
          </a:p>
        </p:txBody>
      </p:sp>
      <p:sp>
        <p:nvSpPr>
          <p:cNvPr id="214" name="Google Shape;214;p34"/>
          <p:cNvSpPr txBox="1"/>
          <p:nvPr/>
        </p:nvSpPr>
        <p:spPr>
          <a:xfrm>
            <a:off x="480875" y="506700"/>
            <a:ext cx="2692200" cy="985200"/>
          </a:xfrm>
          <a:prstGeom prst="rect">
            <a:avLst/>
          </a:prstGeom>
          <a:noFill/>
          <a:ln>
            <a:noFill/>
          </a:ln>
        </p:spPr>
        <p:txBody>
          <a:bodyPr spcFirstLastPara="1" wrap="square" lIns="0" tIns="0" rIns="0" bIns="0" anchor="t" anchorCtr="0">
            <a:spAutoFit/>
          </a:bodyPr>
          <a:lstStyle/>
          <a:p>
            <a:pPr marL="0" lvl="0" indent="0" algn="l" rtl="0">
              <a:lnSpc>
                <a:spcPct val="80000"/>
              </a:lnSpc>
              <a:spcBef>
                <a:spcPts val="0"/>
              </a:spcBef>
              <a:spcAft>
                <a:spcPts val="0"/>
              </a:spcAft>
              <a:buClr>
                <a:schemeClr val="dk1"/>
              </a:buClr>
              <a:buSzPts val="2800"/>
              <a:buFont typeface="Arial"/>
              <a:buNone/>
            </a:pPr>
            <a:r>
              <a:rPr lang="en-US" sz="2800">
                <a:solidFill>
                  <a:schemeClr val="dk1"/>
                </a:solidFill>
              </a:rPr>
              <a:t>Analisis</a:t>
            </a:r>
            <a:endParaRPr sz="2800">
              <a:solidFill>
                <a:schemeClr val="dk1"/>
              </a:solidFill>
            </a:endParaRPr>
          </a:p>
          <a:p>
            <a:pPr marL="0" lvl="0" indent="0" algn="l" rtl="0">
              <a:lnSpc>
                <a:spcPct val="80000"/>
              </a:lnSpc>
              <a:spcBef>
                <a:spcPts val="0"/>
              </a:spcBef>
              <a:spcAft>
                <a:spcPts val="0"/>
              </a:spcAft>
              <a:buClr>
                <a:schemeClr val="dk1"/>
              </a:buClr>
              <a:buSzPts val="2800"/>
              <a:buFont typeface="Arial"/>
              <a:buNone/>
            </a:pPr>
            <a:r>
              <a:rPr lang="en-US" sz="2800">
                <a:solidFill>
                  <a:schemeClr val="dk1"/>
                </a:solidFill>
              </a:rPr>
              <a:t>Univariado: </a:t>
            </a:r>
            <a:endParaRPr sz="2800">
              <a:solidFill>
                <a:schemeClr val="dk1"/>
              </a:solidFill>
            </a:endParaRPr>
          </a:p>
          <a:p>
            <a:pPr marL="0" lvl="0" indent="0" algn="l" rtl="0">
              <a:lnSpc>
                <a:spcPct val="80000"/>
              </a:lnSpc>
              <a:spcBef>
                <a:spcPts val="0"/>
              </a:spcBef>
              <a:spcAft>
                <a:spcPts val="0"/>
              </a:spcAft>
              <a:buClr>
                <a:schemeClr val="dk1"/>
              </a:buClr>
              <a:buSzPts val="2800"/>
              <a:buFont typeface="Arial"/>
              <a:buNone/>
            </a:pPr>
            <a:r>
              <a:rPr lang="en-US" sz="2400" b="1">
                <a:solidFill>
                  <a:schemeClr val="dk1"/>
                </a:solidFill>
              </a:rPr>
              <a:t>Caracteristicas</a:t>
            </a:r>
            <a:endParaRPr sz="2400"/>
          </a:p>
        </p:txBody>
      </p:sp>
      <p:sp>
        <p:nvSpPr>
          <p:cNvPr id="215" name="Google Shape;215;p34"/>
          <p:cNvSpPr txBox="1"/>
          <p:nvPr/>
        </p:nvSpPr>
        <p:spPr>
          <a:xfrm>
            <a:off x="2736375" y="506700"/>
            <a:ext cx="8879400" cy="6897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latin typeface="Helvetica Neue"/>
                <a:ea typeface="Helvetica Neue"/>
                <a:cs typeface="Helvetica Neue"/>
                <a:sym typeface="Helvetica Neue"/>
              </a:rPr>
              <a:t>¿Cuales son las </a:t>
            </a:r>
            <a:r>
              <a:rPr lang="en-US" sz="2800" b="1">
                <a:latin typeface="Helvetica Neue"/>
                <a:ea typeface="Helvetica Neue"/>
                <a:cs typeface="Helvetica Neue"/>
                <a:sym typeface="Helvetica Neue"/>
              </a:rPr>
              <a:t>características principales</a:t>
            </a:r>
            <a:r>
              <a:rPr lang="en-US" sz="2800">
                <a:latin typeface="Helvetica Neue"/>
                <a:ea typeface="Helvetica Neue"/>
                <a:cs typeface="Helvetica Neue"/>
                <a:sym typeface="Helvetica Neue"/>
              </a:rPr>
              <a:t> de las viviendas ?</a:t>
            </a:r>
            <a:endParaRPr sz="100" b="1" i="0" u="none" strike="noStrike" cap="none">
              <a:solidFill>
                <a:srgbClr val="888888"/>
              </a:solidFill>
              <a:latin typeface="Helvetica Neue"/>
              <a:ea typeface="Helvetica Neue"/>
              <a:cs typeface="Helvetica Neue"/>
              <a:sym typeface="Helvetica Neue"/>
            </a:endParaRPr>
          </a:p>
        </p:txBody>
      </p:sp>
      <p:pic>
        <p:nvPicPr>
          <p:cNvPr id="216" name="Google Shape;216;p34"/>
          <p:cNvPicPr preferRelativeResize="0"/>
          <p:nvPr/>
        </p:nvPicPr>
        <p:blipFill>
          <a:blip r:embed="rId3">
            <a:alphaModFix/>
          </a:blip>
          <a:stretch>
            <a:fillRect/>
          </a:stretch>
        </p:blipFill>
        <p:spPr>
          <a:xfrm>
            <a:off x="480875" y="3328475"/>
            <a:ext cx="9092328" cy="3190526"/>
          </a:xfrm>
          <a:prstGeom prst="rect">
            <a:avLst/>
          </a:prstGeom>
          <a:noFill/>
          <a:ln>
            <a:noFill/>
          </a:ln>
        </p:spPr>
      </p:pic>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5"/>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11</a:t>
            </a:fld>
            <a:endParaRPr sz="1050" b="0" i="0" u="none" strike="noStrike" cap="none">
              <a:solidFill>
                <a:srgbClr val="000000"/>
              </a:solidFill>
              <a:latin typeface="Arial"/>
              <a:ea typeface="Arial"/>
              <a:cs typeface="Arial"/>
              <a:sym typeface="Arial"/>
            </a:endParaRPr>
          </a:p>
        </p:txBody>
      </p:sp>
      <p:sp>
        <p:nvSpPr>
          <p:cNvPr id="223" name="Google Shape;223;p35"/>
          <p:cNvSpPr/>
          <p:nvPr/>
        </p:nvSpPr>
        <p:spPr>
          <a:xfrm>
            <a:off x="480875" y="1708125"/>
            <a:ext cx="10911900" cy="23214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Hipotesis:</a:t>
            </a:r>
            <a:r>
              <a:rPr lang="en-US">
                <a:solidFill>
                  <a:schemeClr val="dk1"/>
                </a:solidFill>
                <a:latin typeface="DM Sans"/>
                <a:ea typeface="DM Sans"/>
                <a:cs typeface="DM Sans"/>
                <a:sym typeface="DM Sans"/>
              </a:rPr>
              <a:t> ¿Cuales son las características principales de las viviendas en cuanto a la </a:t>
            </a:r>
            <a:r>
              <a:rPr lang="en-US" b="1">
                <a:solidFill>
                  <a:schemeClr val="dk1"/>
                </a:solidFill>
                <a:latin typeface="DM Sans"/>
                <a:ea typeface="DM Sans"/>
                <a:cs typeface="DM Sans"/>
                <a:sym typeface="DM Sans"/>
              </a:rPr>
              <a:t>cantidad de habitaciones, baños y pisos</a:t>
            </a:r>
            <a:r>
              <a:rPr lang="en-US">
                <a:solidFill>
                  <a:schemeClr val="dk1"/>
                </a:solidFill>
                <a:latin typeface="DM Sans"/>
                <a:ea typeface="DM Sans"/>
                <a:cs typeface="DM Sans"/>
                <a:sym typeface="DM Sans"/>
              </a:rPr>
              <a:t>?</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Conclusion</a:t>
            </a:r>
            <a:r>
              <a:rPr lang="en-US">
                <a:solidFill>
                  <a:schemeClr val="dk1"/>
                </a:solidFill>
                <a:latin typeface="DM Sans"/>
                <a:ea typeface="DM Sans"/>
                <a:cs typeface="DM Sans"/>
                <a:sym typeface="DM Sans"/>
              </a:rPr>
              <a:t>: Del análisis de las frecuencias en términos relativos observamos que El </a:t>
            </a:r>
            <a:r>
              <a:rPr lang="en-US" b="1">
                <a:solidFill>
                  <a:schemeClr val="dk1"/>
                </a:solidFill>
                <a:latin typeface="DM Sans"/>
                <a:ea typeface="DM Sans"/>
                <a:cs typeface="DM Sans"/>
                <a:sym typeface="DM Sans"/>
              </a:rPr>
              <a:t>89%</a:t>
            </a:r>
            <a:r>
              <a:rPr lang="en-US">
                <a:solidFill>
                  <a:schemeClr val="dk1"/>
                </a:solidFill>
                <a:latin typeface="DM Sans"/>
                <a:ea typeface="DM Sans"/>
                <a:cs typeface="DM Sans"/>
                <a:sym typeface="DM Sans"/>
              </a:rPr>
              <a:t> de las viviendas que cuentan </a:t>
            </a:r>
            <a:r>
              <a:rPr lang="en-US" b="1">
                <a:solidFill>
                  <a:schemeClr val="dk1"/>
                </a:solidFill>
                <a:latin typeface="DM Sans"/>
                <a:ea typeface="DM Sans"/>
                <a:cs typeface="DM Sans"/>
                <a:sym typeface="DM Sans"/>
              </a:rPr>
              <a:t>entre 3 y 4 habitaciones</a:t>
            </a:r>
            <a:r>
              <a:rPr lang="en-US">
                <a:solidFill>
                  <a:schemeClr val="dk1"/>
                </a:solidFill>
                <a:latin typeface="DM Sans"/>
                <a:ea typeface="DM Sans"/>
                <a:cs typeface="DM Sans"/>
                <a:sym typeface="DM Sans"/>
              </a:rPr>
              <a:t>, por lo que existe una alta concentración. En tercer lugar se observan 13% de viviendas de 2 habitaciones</a:t>
            </a:r>
            <a:r>
              <a:rPr lang="en-US" b="1">
                <a:solidFill>
                  <a:schemeClr val="dk1"/>
                </a:solidFill>
                <a:latin typeface="DM Sans"/>
                <a:ea typeface="DM Sans"/>
                <a:cs typeface="DM Sans"/>
                <a:sym typeface="DM Sans"/>
              </a:rPr>
              <a:t>. Las viviendas con un baño representan el 38</a:t>
            </a:r>
            <a:r>
              <a:rPr lang="en-US">
                <a:solidFill>
                  <a:schemeClr val="dk1"/>
                </a:solidFill>
                <a:latin typeface="DM Sans"/>
                <a:ea typeface="DM Sans"/>
                <a:cs typeface="DM Sans"/>
                <a:sym typeface="DM Sans"/>
              </a:rPr>
              <a:t>% y las que cuentan con </a:t>
            </a:r>
            <a:r>
              <a:rPr lang="en-US" b="1">
                <a:solidFill>
                  <a:schemeClr val="dk1"/>
                </a:solidFill>
                <a:latin typeface="DM Sans"/>
                <a:ea typeface="DM Sans"/>
                <a:cs typeface="DM Sans"/>
                <a:sym typeface="DM Sans"/>
              </a:rPr>
              <a:t>dos baños el 52%</a:t>
            </a:r>
            <a:r>
              <a:rPr lang="en-US">
                <a:solidFill>
                  <a:schemeClr val="dk1"/>
                </a:solidFill>
                <a:latin typeface="DM Sans"/>
                <a:ea typeface="DM Sans"/>
                <a:cs typeface="DM Sans"/>
                <a:sym typeface="DM Sans"/>
              </a:rPr>
              <a:t>, existe aquí también una concentración muy significativa. Respecto la cantidad de pisos, </a:t>
            </a:r>
            <a:r>
              <a:rPr lang="en-US" b="1">
                <a:solidFill>
                  <a:schemeClr val="dk1"/>
                </a:solidFill>
                <a:latin typeface="DM Sans"/>
                <a:ea typeface="DM Sans"/>
                <a:cs typeface="DM Sans"/>
                <a:sym typeface="DM Sans"/>
              </a:rPr>
              <a:t>el 58% de las propiedades cuentan con una sola planta y el 39% con dos.</a:t>
            </a:r>
            <a:r>
              <a:rPr lang="en-US">
                <a:solidFill>
                  <a:schemeClr val="dk1"/>
                </a:solidFill>
                <a:latin typeface="DM Sans"/>
                <a:ea typeface="DM Sans"/>
                <a:cs typeface="DM Sans"/>
                <a:sym typeface="DM Sans"/>
              </a:rPr>
              <a:t> Por lo que resulta muy poco significativo la cantidad de vivienda con tres o más pisos.</a:t>
            </a:r>
            <a:endParaRPr>
              <a:solidFill>
                <a:schemeClr val="dk1"/>
              </a:solidFill>
              <a:latin typeface="DM Sans"/>
              <a:ea typeface="DM Sans"/>
              <a:cs typeface="DM Sans"/>
              <a:sym typeface="DM Sans"/>
            </a:endParaRPr>
          </a:p>
          <a:p>
            <a:pPr marL="0" marR="0" lvl="0" indent="0" algn="l" rtl="0">
              <a:spcBef>
                <a:spcPts val="0"/>
              </a:spcBef>
              <a:spcAft>
                <a:spcPts val="0"/>
              </a:spcAft>
              <a:buNone/>
            </a:pPr>
            <a:endParaRPr>
              <a:solidFill>
                <a:schemeClr val="dk1"/>
              </a:solidFill>
              <a:latin typeface="DM Sans"/>
              <a:ea typeface="DM Sans"/>
              <a:cs typeface="DM Sans"/>
              <a:sym typeface="DM Sans"/>
            </a:endParaRPr>
          </a:p>
        </p:txBody>
      </p:sp>
      <p:sp>
        <p:nvSpPr>
          <p:cNvPr id="224" name="Google Shape;224;p35"/>
          <p:cNvSpPr txBox="1"/>
          <p:nvPr/>
        </p:nvSpPr>
        <p:spPr>
          <a:xfrm>
            <a:off x="480875" y="506700"/>
            <a:ext cx="2692200" cy="985200"/>
          </a:xfrm>
          <a:prstGeom prst="rect">
            <a:avLst/>
          </a:prstGeom>
          <a:noFill/>
          <a:ln>
            <a:noFill/>
          </a:ln>
        </p:spPr>
        <p:txBody>
          <a:bodyPr spcFirstLastPara="1" wrap="square" lIns="0" tIns="0" rIns="0" bIns="0" anchor="t" anchorCtr="0">
            <a:spAutoFit/>
          </a:bodyPr>
          <a:lstStyle/>
          <a:p>
            <a:pPr marL="0" lvl="0" indent="0" algn="l" rtl="0">
              <a:lnSpc>
                <a:spcPct val="80000"/>
              </a:lnSpc>
              <a:spcBef>
                <a:spcPts val="0"/>
              </a:spcBef>
              <a:spcAft>
                <a:spcPts val="0"/>
              </a:spcAft>
              <a:buClr>
                <a:schemeClr val="dk1"/>
              </a:buClr>
              <a:buSzPts val="2800"/>
              <a:buFont typeface="Arial"/>
              <a:buNone/>
            </a:pPr>
            <a:r>
              <a:rPr lang="en-US" sz="2800">
                <a:solidFill>
                  <a:schemeClr val="dk1"/>
                </a:solidFill>
              </a:rPr>
              <a:t>Analisis</a:t>
            </a:r>
            <a:endParaRPr sz="2800">
              <a:solidFill>
                <a:schemeClr val="dk1"/>
              </a:solidFill>
            </a:endParaRPr>
          </a:p>
          <a:p>
            <a:pPr marL="0" lvl="0" indent="0" algn="l" rtl="0">
              <a:lnSpc>
                <a:spcPct val="80000"/>
              </a:lnSpc>
              <a:spcBef>
                <a:spcPts val="0"/>
              </a:spcBef>
              <a:spcAft>
                <a:spcPts val="0"/>
              </a:spcAft>
              <a:buClr>
                <a:schemeClr val="dk1"/>
              </a:buClr>
              <a:buSzPts val="2800"/>
              <a:buFont typeface="Arial"/>
              <a:buNone/>
            </a:pPr>
            <a:r>
              <a:rPr lang="en-US" sz="2800">
                <a:solidFill>
                  <a:schemeClr val="dk1"/>
                </a:solidFill>
              </a:rPr>
              <a:t>Univariado: </a:t>
            </a:r>
            <a:endParaRPr sz="2800">
              <a:solidFill>
                <a:schemeClr val="dk1"/>
              </a:solidFill>
            </a:endParaRPr>
          </a:p>
          <a:p>
            <a:pPr marL="0" lvl="0" indent="0" algn="l" rtl="0">
              <a:lnSpc>
                <a:spcPct val="80000"/>
              </a:lnSpc>
              <a:spcBef>
                <a:spcPts val="0"/>
              </a:spcBef>
              <a:spcAft>
                <a:spcPts val="0"/>
              </a:spcAft>
              <a:buClr>
                <a:schemeClr val="dk1"/>
              </a:buClr>
              <a:buSzPts val="2800"/>
              <a:buFont typeface="Arial"/>
              <a:buNone/>
            </a:pPr>
            <a:r>
              <a:rPr lang="en-US" sz="2400" b="1">
                <a:solidFill>
                  <a:schemeClr val="dk1"/>
                </a:solidFill>
              </a:rPr>
              <a:t>Caracteristicas</a:t>
            </a:r>
            <a:endParaRPr sz="2400"/>
          </a:p>
        </p:txBody>
      </p:sp>
      <p:sp>
        <p:nvSpPr>
          <p:cNvPr id="225" name="Google Shape;225;p35"/>
          <p:cNvSpPr txBox="1"/>
          <p:nvPr/>
        </p:nvSpPr>
        <p:spPr>
          <a:xfrm>
            <a:off x="2736375" y="506700"/>
            <a:ext cx="8879400" cy="6897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latin typeface="Helvetica Neue"/>
                <a:ea typeface="Helvetica Neue"/>
                <a:cs typeface="Helvetica Neue"/>
                <a:sym typeface="Helvetica Neue"/>
              </a:rPr>
              <a:t>¿Cuales son las </a:t>
            </a:r>
            <a:r>
              <a:rPr lang="en-US" sz="2800" b="1">
                <a:latin typeface="Helvetica Neue"/>
                <a:ea typeface="Helvetica Neue"/>
                <a:cs typeface="Helvetica Neue"/>
                <a:sym typeface="Helvetica Neue"/>
              </a:rPr>
              <a:t>características principales</a:t>
            </a:r>
            <a:r>
              <a:rPr lang="en-US" sz="2800">
                <a:latin typeface="Helvetica Neue"/>
                <a:ea typeface="Helvetica Neue"/>
                <a:cs typeface="Helvetica Neue"/>
                <a:sym typeface="Helvetica Neue"/>
              </a:rPr>
              <a:t> de las viviendas ?</a:t>
            </a:r>
            <a:endParaRPr sz="100" b="1" i="0" u="none" strike="noStrike" cap="none">
              <a:solidFill>
                <a:srgbClr val="888888"/>
              </a:solidFill>
              <a:latin typeface="Helvetica Neue"/>
              <a:ea typeface="Helvetica Neue"/>
              <a:cs typeface="Helvetica Neue"/>
              <a:sym typeface="Helvetica Neue"/>
            </a:endParaRPr>
          </a:p>
        </p:txBody>
      </p:sp>
      <p:pic>
        <p:nvPicPr>
          <p:cNvPr id="226" name="Google Shape;226;p35"/>
          <p:cNvPicPr preferRelativeResize="0"/>
          <p:nvPr/>
        </p:nvPicPr>
        <p:blipFill>
          <a:blip r:embed="rId3">
            <a:alphaModFix/>
          </a:blip>
          <a:stretch>
            <a:fillRect/>
          </a:stretch>
        </p:blipFill>
        <p:spPr>
          <a:xfrm>
            <a:off x="562400" y="3638175"/>
            <a:ext cx="10027057" cy="2880825"/>
          </a:xfrm>
          <a:prstGeom prst="rect">
            <a:avLst/>
          </a:prstGeom>
          <a:noFill/>
          <a:ln>
            <a:noFill/>
          </a:ln>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6"/>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12</a:t>
            </a:fld>
            <a:endParaRPr sz="1050" b="0" i="0" u="none" strike="noStrike" cap="none">
              <a:solidFill>
                <a:srgbClr val="000000"/>
              </a:solidFill>
              <a:latin typeface="Arial"/>
              <a:ea typeface="Arial"/>
              <a:cs typeface="Arial"/>
              <a:sym typeface="Arial"/>
            </a:endParaRPr>
          </a:p>
        </p:txBody>
      </p:sp>
      <p:sp>
        <p:nvSpPr>
          <p:cNvPr id="233" name="Google Shape;233;p36"/>
          <p:cNvSpPr/>
          <p:nvPr/>
        </p:nvSpPr>
        <p:spPr>
          <a:xfrm>
            <a:off x="6434325" y="1723375"/>
            <a:ext cx="5318700" cy="43635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Hipotesis</a:t>
            </a:r>
            <a:r>
              <a:rPr lang="en-US">
                <a:solidFill>
                  <a:schemeClr val="dk1"/>
                </a:solidFill>
                <a:latin typeface="DM Sans"/>
                <a:ea typeface="DM Sans"/>
                <a:cs typeface="DM Sans"/>
                <a:sym typeface="DM Sans"/>
              </a:rPr>
              <a:t>: ¿Cómo se distribuyen los precios de las viviendas?¿Existe una simetría?¿Entre qué valores se encuentran la mayoría? ¿Cual es la Media y la Mediana?</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Conclusion</a:t>
            </a:r>
            <a:r>
              <a:rPr lang="en-US">
                <a:solidFill>
                  <a:schemeClr val="dk1"/>
                </a:solidFill>
                <a:latin typeface="DM Sans"/>
                <a:ea typeface="DM Sans"/>
                <a:cs typeface="DM Sans"/>
                <a:sym typeface="DM Sans"/>
              </a:rPr>
              <a:t>: Podemos concluir que los precios de la viviendas muestran una distribución prácticamente normal aunque se observa una </a:t>
            </a:r>
            <a:r>
              <a:rPr lang="en-US" b="1">
                <a:solidFill>
                  <a:schemeClr val="dk1"/>
                </a:solidFill>
                <a:latin typeface="DM Sans"/>
                <a:ea typeface="DM Sans"/>
                <a:cs typeface="DM Sans"/>
                <a:sym typeface="DM Sans"/>
              </a:rPr>
              <a:t>leve asimetría de derecha</a:t>
            </a:r>
            <a:r>
              <a:rPr lang="en-US">
                <a:solidFill>
                  <a:schemeClr val="dk1"/>
                </a:solidFill>
                <a:latin typeface="DM Sans"/>
                <a:ea typeface="DM Sans"/>
                <a:cs typeface="DM Sans"/>
                <a:sym typeface="DM Sans"/>
              </a:rPr>
              <a:t>. </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Además podemos observar que la mayor cantidad observaciones se encuentran </a:t>
            </a:r>
            <a:r>
              <a:rPr lang="en-US" b="1">
                <a:solidFill>
                  <a:schemeClr val="dk1"/>
                </a:solidFill>
                <a:latin typeface="DM Sans"/>
                <a:ea typeface="DM Sans"/>
                <a:cs typeface="DM Sans"/>
                <a:sym typeface="DM Sans"/>
              </a:rPr>
              <a:t>concentradas entre los 200.000 y los 600.000.</a:t>
            </a:r>
            <a:endParaRPr b="1">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La </a:t>
            </a:r>
            <a:r>
              <a:rPr lang="en-US" b="1">
                <a:solidFill>
                  <a:schemeClr val="dk1"/>
                </a:solidFill>
                <a:latin typeface="DM Sans"/>
                <a:ea typeface="DM Sans"/>
                <a:cs typeface="DM Sans"/>
                <a:sym typeface="DM Sans"/>
              </a:rPr>
              <a:t>media es de 487.575</a:t>
            </a:r>
            <a:r>
              <a:rPr lang="en-US">
                <a:solidFill>
                  <a:schemeClr val="dk1"/>
                </a:solidFill>
                <a:latin typeface="DM Sans"/>
                <a:ea typeface="DM Sans"/>
                <a:cs typeface="DM Sans"/>
                <a:sym typeface="DM Sans"/>
              </a:rPr>
              <a:t> mientras que la </a:t>
            </a:r>
            <a:r>
              <a:rPr lang="en-US" b="1">
                <a:solidFill>
                  <a:schemeClr val="dk1"/>
                </a:solidFill>
                <a:latin typeface="DM Sans"/>
                <a:ea typeface="DM Sans"/>
                <a:cs typeface="DM Sans"/>
                <a:sym typeface="DM Sans"/>
              </a:rPr>
              <a:t>mediana es de 450.000</a:t>
            </a:r>
            <a:r>
              <a:rPr lang="en-US">
                <a:solidFill>
                  <a:schemeClr val="dk1"/>
                </a:solidFill>
                <a:latin typeface="DM Sans"/>
                <a:ea typeface="DM Sans"/>
                <a:cs typeface="DM Sans"/>
                <a:sym typeface="DM Sans"/>
              </a:rPr>
              <a:t>,  levemente inferior.</a:t>
            </a:r>
            <a:endParaRPr>
              <a:solidFill>
                <a:schemeClr val="dk1"/>
              </a:solidFill>
              <a:latin typeface="DM Sans"/>
              <a:ea typeface="DM Sans"/>
              <a:cs typeface="DM Sans"/>
              <a:sym typeface="DM Sans"/>
            </a:endParaRPr>
          </a:p>
          <a:p>
            <a:pPr marL="0" marR="0" lvl="0" indent="0" algn="l" rtl="0">
              <a:spcBef>
                <a:spcPts val="0"/>
              </a:spcBef>
              <a:spcAft>
                <a:spcPts val="0"/>
              </a:spcAft>
              <a:buNone/>
            </a:pPr>
            <a:endParaRPr sz="1300">
              <a:solidFill>
                <a:schemeClr val="dk1"/>
              </a:solidFill>
              <a:latin typeface="DM Sans"/>
              <a:ea typeface="DM Sans"/>
              <a:cs typeface="DM Sans"/>
              <a:sym typeface="DM Sans"/>
            </a:endParaRPr>
          </a:p>
        </p:txBody>
      </p:sp>
      <p:sp>
        <p:nvSpPr>
          <p:cNvPr id="234" name="Google Shape;234;p36"/>
          <p:cNvSpPr txBox="1"/>
          <p:nvPr/>
        </p:nvSpPr>
        <p:spPr>
          <a:xfrm>
            <a:off x="480873" y="506701"/>
            <a:ext cx="2247300" cy="10344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Analisis</a:t>
            </a:r>
            <a:endParaRPr sz="2800"/>
          </a:p>
          <a:p>
            <a:pPr marL="0" marR="0" lvl="0" indent="0" algn="l" rtl="0">
              <a:lnSpc>
                <a:spcPct val="80000"/>
              </a:lnSpc>
              <a:spcBef>
                <a:spcPts val="0"/>
              </a:spcBef>
              <a:spcAft>
                <a:spcPts val="0"/>
              </a:spcAft>
              <a:buClr>
                <a:srgbClr val="000000"/>
              </a:buClr>
              <a:buSzPts val="2800"/>
              <a:buFont typeface="Arial"/>
              <a:buNone/>
            </a:pPr>
            <a:r>
              <a:rPr lang="en-US" sz="2800"/>
              <a:t>Univariado:</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800" b="1"/>
              <a:t>Precio</a:t>
            </a:r>
            <a:endParaRPr/>
          </a:p>
        </p:txBody>
      </p:sp>
      <p:sp>
        <p:nvSpPr>
          <p:cNvPr id="235" name="Google Shape;235;p36"/>
          <p:cNvSpPr txBox="1"/>
          <p:nvPr/>
        </p:nvSpPr>
        <p:spPr>
          <a:xfrm>
            <a:off x="2728175" y="506700"/>
            <a:ext cx="8879400" cy="3447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latin typeface="Helvetica Neue"/>
                <a:ea typeface="Helvetica Neue"/>
                <a:cs typeface="Helvetica Neue"/>
                <a:sym typeface="Helvetica Neue"/>
              </a:rPr>
              <a:t>¿Cómo es la </a:t>
            </a:r>
            <a:r>
              <a:rPr lang="en-US" sz="2800" b="1">
                <a:latin typeface="Helvetica Neue"/>
                <a:ea typeface="Helvetica Neue"/>
                <a:cs typeface="Helvetica Neue"/>
                <a:sym typeface="Helvetica Neue"/>
              </a:rPr>
              <a:t>distribución de precios</a:t>
            </a:r>
            <a:r>
              <a:rPr lang="en-US" sz="2800">
                <a:latin typeface="Helvetica Neue"/>
                <a:ea typeface="Helvetica Neue"/>
                <a:cs typeface="Helvetica Neue"/>
                <a:sym typeface="Helvetica Neue"/>
              </a:rPr>
              <a:t> de las viviendas?</a:t>
            </a:r>
            <a:endParaRPr sz="100" b="1" i="0" u="none" strike="noStrike" cap="none">
              <a:solidFill>
                <a:srgbClr val="888888"/>
              </a:solidFill>
              <a:latin typeface="Helvetica Neue"/>
              <a:ea typeface="Helvetica Neue"/>
              <a:cs typeface="Helvetica Neue"/>
              <a:sym typeface="Helvetica Neue"/>
            </a:endParaRPr>
          </a:p>
        </p:txBody>
      </p:sp>
      <p:pic>
        <p:nvPicPr>
          <p:cNvPr id="236" name="Google Shape;236;p36"/>
          <p:cNvPicPr preferRelativeResize="0"/>
          <p:nvPr/>
        </p:nvPicPr>
        <p:blipFill>
          <a:blip r:embed="rId3">
            <a:alphaModFix/>
          </a:blip>
          <a:stretch>
            <a:fillRect/>
          </a:stretch>
        </p:blipFill>
        <p:spPr>
          <a:xfrm>
            <a:off x="480875" y="1723375"/>
            <a:ext cx="5541974" cy="4709449"/>
          </a:xfrm>
          <a:prstGeom prst="rect">
            <a:avLst/>
          </a:prstGeom>
          <a:noFill/>
          <a:ln>
            <a:noFill/>
          </a:ln>
        </p:spPr>
      </p:pic>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p:nvPr/>
        </p:nvSpPr>
        <p:spPr>
          <a:xfrm>
            <a:off x="11506202" y="6519009"/>
            <a:ext cx="685798" cy="20637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13</a:t>
            </a:fld>
            <a:endParaRPr sz="1050" b="0" i="0" u="none" strike="noStrike" cap="none">
              <a:solidFill>
                <a:srgbClr val="000000"/>
              </a:solidFill>
              <a:latin typeface="Arial"/>
              <a:ea typeface="Arial"/>
              <a:cs typeface="Arial"/>
              <a:sym typeface="Arial"/>
            </a:endParaRPr>
          </a:p>
        </p:txBody>
      </p:sp>
      <p:sp>
        <p:nvSpPr>
          <p:cNvPr id="243" name="Google Shape;243;p37"/>
          <p:cNvSpPr/>
          <p:nvPr/>
        </p:nvSpPr>
        <p:spPr>
          <a:xfrm>
            <a:off x="6434325" y="1723375"/>
            <a:ext cx="5593200" cy="43635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Hipotesis</a:t>
            </a:r>
            <a:r>
              <a:rPr lang="en-US">
                <a:solidFill>
                  <a:schemeClr val="dk1"/>
                </a:solidFill>
                <a:latin typeface="DM Sans"/>
                <a:ea typeface="DM Sans"/>
                <a:cs typeface="DM Sans"/>
                <a:sym typeface="DM Sans"/>
              </a:rPr>
              <a:t>:  Buscamos analizar si existe un cambio significativo de los precios de la viviendas entre la muestra de nuestro dataset correspondiente al </a:t>
            </a:r>
            <a:r>
              <a:rPr lang="en-US" b="1">
                <a:solidFill>
                  <a:schemeClr val="dk1"/>
                </a:solidFill>
                <a:latin typeface="DM Sans"/>
                <a:ea typeface="DM Sans"/>
                <a:cs typeface="DM Sans"/>
                <a:sym typeface="DM Sans"/>
              </a:rPr>
              <a:t>periodo 2014 y el 2021.</a:t>
            </a:r>
            <a:endParaRPr b="1">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Nuestra muestra arroja un precio promedio de </a:t>
            </a:r>
            <a:r>
              <a:rPr lang="en-US" b="1">
                <a:solidFill>
                  <a:schemeClr val="dk1"/>
                </a:solidFill>
                <a:latin typeface="DM Sans"/>
                <a:ea typeface="DM Sans"/>
                <a:cs typeface="DM Sans"/>
                <a:sym typeface="DM Sans"/>
              </a:rPr>
              <a:t>487.475</a:t>
            </a:r>
            <a:r>
              <a:rPr lang="en-US">
                <a:solidFill>
                  <a:schemeClr val="dk1"/>
                </a:solidFill>
                <a:latin typeface="DM Sans"/>
                <a:ea typeface="DM Sans"/>
                <a:cs typeface="DM Sans"/>
                <a:sym typeface="DM Sans"/>
              </a:rPr>
              <a:t>. Según datos de la Asociación Nacional de Agentes Inmobiliarios de EEUU, el precio medio de una vivienda en el cuarto trimestre de 2021 fue de aproximadamente </a:t>
            </a:r>
            <a:r>
              <a:rPr lang="en-US" b="1">
                <a:solidFill>
                  <a:schemeClr val="dk1"/>
                </a:solidFill>
                <a:latin typeface="DM Sans"/>
                <a:ea typeface="DM Sans"/>
                <a:cs typeface="DM Sans"/>
                <a:sym typeface="DM Sans"/>
              </a:rPr>
              <a:t>408.800.</a:t>
            </a:r>
            <a:endParaRPr b="1">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Nuestra. Hipotesis Nula </a:t>
            </a:r>
            <a:r>
              <a:rPr lang="en-US" b="1">
                <a:solidFill>
                  <a:schemeClr val="dk1"/>
                </a:solidFill>
                <a:latin typeface="DM Sans"/>
                <a:ea typeface="DM Sans"/>
                <a:cs typeface="DM Sans"/>
                <a:sym typeface="DM Sans"/>
              </a:rPr>
              <a:t>(H0) implica que no existe un cambio significativo en el precio</a:t>
            </a:r>
            <a:r>
              <a:rPr lang="en-US">
                <a:solidFill>
                  <a:schemeClr val="dk1"/>
                </a:solidFill>
                <a:latin typeface="DM Sans"/>
                <a:ea typeface="DM Sans"/>
                <a:cs typeface="DM Sans"/>
                <a:sym typeface="DM Sans"/>
              </a:rPr>
              <a:t> promedio de las viviendas.</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Conclusion</a:t>
            </a:r>
            <a:r>
              <a:rPr lang="en-US">
                <a:solidFill>
                  <a:schemeClr val="dk1"/>
                </a:solidFill>
                <a:latin typeface="DM Sans"/>
                <a:ea typeface="DM Sans"/>
                <a:cs typeface="DM Sans"/>
                <a:sym typeface="DM Sans"/>
              </a:rPr>
              <a:t>: Al aplicar </a:t>
            </a:r>
            <a:r>
              <a:rPr lang="en-US" b="1" u="sng">
                <a:solidFill>
                  <a:schemeClr val="dk1"/>
                </a:solidFill>
                <a:latin typeface="DM Sans"/>
                <a:ea typeface="DM Sans"/>
                <a:cs typeface="DM Sans"/>
                <a:sym typeface="DM Sans"/>
              </a:rPr>
              <a:t>T test,</a:t>
            </a:r>
            <a:r>
              <a:rPr lang="en-US">
                <a:solidFill>
                  <a:schemeClr val="dk1"/>
                </a:solidFill>
                <a:latin typeface="DM Sans"/>
                <a:ea typeface="DM Sans"/>
                <a:cs typeface="DM Sans"/>
                <a:sym typeface="DM Sans"/>
              </a:rPr>
              <a:t> el resultado que arroja el valor P es significativamente mayor a 0.05 (nivel de significancia), con lo cual únicamente podemos concluir que </a:t>
            </a:r>
            <a:r>
              <a:rPr lang="en-US" b="1">
                <a:solidFill>
                  <a:schemeClr val="dk1"/>
                </a:solidFill>
                <a:latin typeface="DM Sans"/>
                <a:ea typeface="DM Sans"/>
                <a:cs typeface="DM Sans"/>
                <a:sym typeface="DM Sans"/>
              </a:rPr>
              <a:t>no podemos rechazar H0</a:t>
            </a:r>
            <a:r>
              <a:rPr lang="en-US">
                <a:solidFill>
                  <a:schemeClr val="dk1"/>
                </a:solidFill>
                <a:latin typeface="DM Sans"/>
                <a:ea typeface="DM Sans"/>
                <a:cs typeface="DM Sans"/>
                <a:sym typeface="DM Sans"/>
              </a:rPr>
              <a:t>. En definitiva</a:t>
            </a:r>
            <a:r>
              <a:rPr lang="en-US" b="1">
                <a:solidFill>
                  <a:schemeClr val="dk1"/>
                </a:solidFill>
                <a:latin typeface="DM Sans"/>
                <a:ea typeface="DM Sans"/>
                <a:cs typeface="DM Sans"/>
                <a:sym typeface="DM Sans"/>
              </a:rPr>
              <a:t> no podemos confirmar que hubo un cambio significativo en el precio de las viviendas</a:t>
            </a:r>
            <a:r>
              <a:rPr lang="en-US">
                <a:solidFill>
                  <a:schemeClr val="dk1"/>
                </a:solidFill>
                <a:latin typeface="DM Sans"/>
                <a:ea typeface="DM Sans"/>
                <a:cs typeface="DM Sans"/>
                <a:sym typeface="DM Sans"/>
              </a:rPr>
              <a:t> entre el 2014 y el 2021 </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marR="0" lvl="0" indent="0" algn="l" rtl="0">
              <a:spcBef>
                <a:spcPts val="0"/>
              </a:spcBef>
              <a:spcAft>
                <a:spcPts val="0"/>
              </a:spcAft>
              <a:buNone/>
            </a:pPr>
            <a:endParaRPr>
              <a:solidFill>
                <a:schemeClr val="dk1"/>
              </a:solidFill>
              <a:latin typeface="DM Sans"/>
              <a:ea typeface="DM Sans"/>
              <a:cs typeface="DM Sans"/>
              <a:sym typeface="DM Sans"/>
            </a:endParaRPr>
          </a:p>
        </p:txBody>
      </p:sp>
      <p:sp>
        <p:nvSpPr>
          <p:cNvPr id="244" name="Google Shape;244;p37"/>
          <p:cNvSpPr txBox="1"/>
          <p:nvPr/>
        </p:nvSpPr>
        <p:spPr>
          <a:xfrm>
            <a:off x="480873" y="506701"/>
            <a:ext cx="2247300" cy="6897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T-Test</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800" b="1"/>
              <a:t>Precio</a:t>
            </a:r>
            <a:endParaRPr/>
          </a:p>
        </p:txBody>
      </p:sp>
      <p:sp>
        <p:nvSpPr>
          <p:cNvPr id="245" name="Google Shape;245;p37"/>
          <p:cNvSpPr txBox="1"/>
          <p:nvPr/>
        </p:nvSpPr>
        <p:spPr>
          <a:xfrm>
            <a:off x="2728175" y="506700"/>
            <a:ext cx="8879400" cy="6897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latin typeface="Helvetica Neue"/>
                <a:ea typeface="Helvetica Neue"/>
                <a:cs typeface="Helvetica Neue"/>
                <a:sym typeface="Helvetica Neue"/>
              </a:rPr>
              <a:t>¿Existe un </a:t>
            </a:r>
            <a:r>
              <a:rPr lang="en-US" sz="2800" b="1">
                <a:latin typeface="Helvetica Neue"/>
                <a:ea typeface="Helvetica Neue"/>
                <a:cs typeface="Helvetica Neue"/>
                <a:sym typeface="Helvetica Neue"/>
              </a:rPr>
              <a:t>cambio significativo del precio</a:t>
            </a:r>
            <a:r>
              <a:rPr lang="en-US" sz="2800">
                <a:latin typeface="Helvetica Neue"/>
                <a:ea typeface="Helvetica Neue"/>
                <a:cs typeface="Helvetica Neue"/>
                <a:sym typeface="Helvetica Neue"/>
              </a:rPr>
              <a:t> de las viviendas en el tiempo??</a:t>
            </a:r>
            <a:endParaRPr sz="100" b="1" i="0" u="none" strike="noStrike" cap="none">
              <a:solidFill>
                <a:srgbClr val="888888"/>
              </a:solidFill>
              <a:latin typeface="Helvetica Neue"/>
              <a:ea typeface="Helvetica Neue"/>
              <a:cs typeface="Helvetica Neue"/>
              <a:sym typeface="Helvetica Neue"/>
            </a:endParaRPr>
          </a:p>
        </p:txBody>
      </p:sp>
      <p:pic>
        <p:nvPicPr>
          <p:cNvPr id="246" name="Google Shape;246;p37"/>
          <p:cNvPicPr preferRelativeResize="0"/>
          <p:nvPr/>
        </p:nvPicPr>
        <p:blipFill>
          <a:blip r:embed="rId3">
            <a:alphaModFix/>
          </a:blip>
          <a:stretch>
            <a:fillRect/>
          </a:stretch>
        </p:blipFill>
        <p:spPr>
          <a:xfrm>
            <a:off x="480875" y="1723375"/>
            <a:ext cx="5526274" cy="4744049"/>
          </a:xfrm>
          <a:prstGeom prst="rect">
            <a:avLst/>
          </a:prstGeom>
          <a:noFill/>
          <a:ln>
            <a:noFill/>
          </a:ln>
        </p:spPr>
      </p:pic>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38"/>
          <p:cNvPicPr preferRelativeResize="0"/>
          <p:nvPr/>
        </p:nvPicPr>
        <p:blipFill>
          <a:blip r:embed="rId3">
            <a:alphaModFix/>
          </a:blip>
          <a:stretch>
            <a:fillRect/>
          </a:stretch>
        </p:blipFill>
        <p:spPr>
          <a:xfrm>
            <a:off x="480875" y="2185400"/>
            <a:ext cx="6750199" cy="4282450"/>
          </a:xfrm>
          <a:prstGeom prst="rect">
            <a:avLst/>
          </a:prstGeom>
          <a:noFill/>
          <a:ln>
            <a:noFill/>
          </a:ln>
        </p:spPr>
      </p:pic>
      <p:sp>
        <p:nvSpPr>
          <p:cNvPr id="253" name="Google Shape;253;p38"/>
          <p:cNvSpPr txBox="1"/>
          <p:nvPr/>
        </p:nvSpPr>
        <p:spPr>
          <a:xfrm>
            <a:off x="480873" y="506701"/>
            <a:ext cx="2247300" cy="13791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Analisis</a:t>
            </a:r>
            <a:endParaRPr sz="2800"/>
          </a:p>
          <a:p>
            <a:pPr marL="0" marR="0" lvl="0" indent="0" algn="l" rtl="0">
              <a:lnSpc>
                <a:spcPct val="80000"/>
              </a:lnSpc>
              <a:spcBef>
                <a:spcPts val="0"/>
              </a:spcBef>
              <a:spcAft>
                <a:spcPts val="0"/>
              </a:spcAft>
              <a:buClr>
                <a:srgbClr val="000000"/>
              </a:buClr>
              <a:buSzPts val="2800"/>
              <a:buFont typeface="Arial"/>
              <a:buNone/>
            </a:pPr>
            <a:r>
              <a:rPr lang="en-US" sz="2800"/>
              <a:t>Bivariado:</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800" b="1"/>
              <a:t>Precio y </a:t>
            </a:r>
            <a:endParaRPr sz="2800" b="1"/>
          </a:p>
          <a:p>
            <a:pPr marL="0" marR="0" lvl="0" indent="0" algn="l" rtl="0">
              <a:lnSpc>
                <a:spcPct val="80000"/>
              </a:lnSpc>
              <a:spcBef>
                <a:spcPts val="0"/>
              </a:spcBef>
              <a:spcAft>
                <a:spcPts val="0"/>
              </a:spcAft>
              <a:buClr>
                <a:srgbClr val="000000"/>
              </a:buClr>
              <a:buSzPts val="2800"/>
              <a:buFont typeface="Arial"/>
              <a:buNone/>
            </a:pPr>
            <a:r>
              <a:rPr lang="en-US" sz="2800" b="1"/>
              <a:t>Tamaño</a:t>
            </a:r>
            <a:endParaRPr sz="2800" b="1"/>
          </a:p>
        </p:txBody>
      </p:sp>
      <p:sp>
        <p:nvSpPr>
          <p:cNvPr id="254" name="Google Shape;254;p38"/>
          <p:cNvSpPr txBox="1"/>
          <p:nvPr/>
        </p:nvSpPr>
        <p:spPr>
          <a:xfrm>
            <a:off x="2728175" y="506700"/>
            <a:ext cx="8879400" cy="6897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latin typeface="Helvetica Neue"/>
                <a:ea typeface="Helvetica Neue"/>
                <a:cs typeface="Helvetica Neue"/>
                <a:sym typeface="Helvetica Neue"/>
              </a:rPr>
              <a:t>¿Cual es la </a:t>
            </a:r>
            <a:r>
              <a:rPr lang="en-US" sz="2800" b="1">
                <a:latin typeface="Helvetica Neue"/>
                <a:ea typeface="Helvetica Neue"/>
                <a:cs typeface="Helvetica Neue"/>
                <a:sym typeface="Helvetica Neue"/>
              </a:rPr>
              <a:t>relación entre el precio promedio </a:t>
            </a:r>
            <a:r>
              <a:rPr lang="en-US" sz="2800">
                <a:latin typeface="Helvetica Neue"/>
                <a:ea typeface="Helvetica Neue"/>
                <a:cs typeface="Helvetica Neue"/>
                <a:sym typeface="Helvetica Neue"/>
              </a:rPr>
              <a:t>de las viviendas y el </a:t>
            </a:r>
            <a:r>
              <a:rPr lang="en-US" sz="2800" b="1">
                <a:latin typeface="Helvetica Neue"/>
                <a:ea typeface="Helvetica Neue"/>
                <a:cs typeface="Helvetica Neue"/>
                <a:sym typeface="Helvetica Neue"/>
              </a:rPr>
              <a:t>tamaño </a:t>
            </a:r>
            <a:r>
              <a:rPr lang="en-US" sz="2800">
                <a:latin typeface="Helvetica Neue"/>
                <a:ea typeface="Helvetica Neue"/>
                <a:cs typeface="Helvetica Neue"/>
                <a:sym typeface="Helvetica Neue"/>
              </a:rPr>
              <a:t>de las mismas? </a:t>
            </a:r>
            <a:endParaRPr sz="100" b="1" i="0" u="none" strike="noStrike" cap="none">
              <a:solidFill>
                <a:srgbClr val="888888"/>
              </a:solidFill>
              <a:latin typeface="Helvetica Neue"/>
              <a:ea typeface="Helvetica Neue"/>
              <a:cs typeface="Helvetica Neue"/>
              <a:sym typeface="Helvetica Neue"/>
            </a:endParaRPr>
          </a:p>
        </p:txBody>
      </p:sp>
      <p:sp>
        <p:nvSpPr>
          <p:cNvPr id="255" name="Google Shape;255;p38"/>
          <p:cNvSpPr txBox="1"/>
          <p:nvPr/>
        </p:nvSpPr>
        <p:spPr>
          <a:xfrm>
            <a:off x="7623050" y="2185400"/>
            <a:ext cx="4053900" cy="37827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US" b="1" u="sng">
                <a:solidFill>
                  <a:schemeClr val="dk1"/>
                </a:solidFill>
                <a:latin typeface="DM Sans"/>
                <a:ea typeface="DM Sans"/>
                <a:cs typeface="DM Sans"/>
                <a:sym typeface="DM Sans"/>
              </a:rPr>
              <a:t>Hipotesis</a:t>
            </a:r>
            <a:r>
              <a:rPr lang="en-US">
                <a:solidFill>
                  <a:schemeClr val="dk1"/>
                </a:solidFill>
                <a:latin typeface="DM Sans"/>
                <a:ea typeface="DM Sans"/>
                <a:cs typeface="DM Sans"/>
                <a:sym typeface="DM Sans"/>
              </a:rPr>
              <a:t>: ¿Existe una correlación entre los precios de las viviendas y los metros cuadrados habitables de la misma?</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None/>
            </a:pP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None/>
            </a:pPr>
            <a:r>
              <a:rPr lang="en-US" b="1" u="sng">
                <a:solidFill>
                  <a:schemeClr val="dk1"/>
                </a:solidFill>
                <a:latin typeface="DM Sans"/>
                <a:ea typeface="DM Sans"/>
                <a:cs typeface="DM Sans"/>
                <a:sym typeface="DM Sans"/>
              </a:rPr>
              <a:t>Conclusiones</a:t>
            </a:r>
            <a:r>
              <a:rPr lang="en-US">
                <a:solidFill>
                  <a:schemeClr val="dk1"/>
                </a:solidFill>
                <a:latin typeface="DM Sans"/>
                <a:ea typeface="DM Sans"/>
                <a:cs typeface="DM Sans"/>
                <a:sym typeface="DM Sans"/>
              </a:rPr>
              <a:t>: Existe una </a:t>
            </a:r>
            <a:r>
              <a:rPr lang="en-US" b="1">
                <a:solidFill>
                  <a:schemeClr val="dk1"/>
                </a:solidFill>
                <a:latin typeface="DM Sans"/>
                <a:ea typeface="DM Sans"/>
                <a:cs typeface="DM Sans"/>
                <a:sym typeface="DM Sans"/>
              </a:rPr>
              <a:t>correlación positiva considerable </a:t>
            </a:r>
            <a:r>
              <a:rPr lang="en-US">
                <a:solidFill>
                  <a:schemeClr val="dk1"/>
                </a:solidFill>
                <a:latin typeface="DM Sans"/>
                <a:ea typeface="DM Sans"/>
                <a:cs typeface="DM Sans"/>
                <a:sym typeface="DM Sans"/>
              </a:rPr>
              <a:t>entre los precios de las viviendas y los metros cuadrados habitables como era de esperarse.</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None/>
            </a:pPr>
            <a:r>
              <a:rPr lang="en-US">
                <a:solidFill>
                  <a:schemeClr val="dk1"/>
                </a:solidFill>
                <a:latin typeface="DM Sans"/>
                <a:ea typeface="DM Sans"/>
                <a:cs typeface="DM Sans"/>
                <a:sym typeface="DM Sans"/>
              </a:rPr>
              <a:t>Es decir a mayor cantidad de metros cuadrados habitables mayor es el precio de la vivienda.</a:t>
            </a: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highlight>
                <a:srgbClr val="1E1E1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a:solidFill>
                <a:srgbClr val="D4D4D4"/>
              </a:solidFill>
              <a:highlight>
                <a:srgbClr val="1E1E1E"/>
              </a:highlight>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9"/>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15</a:t>
            </a:fld>
            <a:endParaRPr sz="1050" b="0" i="0" u="none" strike="noStrike" cap="none">
              <a:solidFill>
                <a:srgbClr val="000000"/>
              </a:solidFill>
              <a:latin typeface="Arial"/>
              <a:ea typeface="Arial"/>
              <a:cs typeface="Arial"/>
              <a:sym typeface="Arial"/>
            </a:endParaRPr>
          </a:p>
        </p:txBody>
      </p:sp>
      <p:sp>
        <p:nvSpPr>
          <p:cNvPr id="262" name="Google Shape;262;p39"/>
          <p:cNvSpPr/>
          <p:nvPr/>
        </p:nvSpPr>
        <p:spPr>
          <a:xfrm>
            <a:off x="6281925" y="2028175"/>
            <a:ext cx="5318700" cy="43635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Hipotesis</a:t>
            </a:r>
            <a:r>
              <a:rPr lang="en-US">
                <a:solidFill>
                  <a:schemeClr val="dk1"/>
                </a:solidFill>
                <a:latin typeface="DM Sans"/>
                <a:ea typeface="DM Sans"/>
                <a:cs typeface="DM Sans"/>
                <a:sym typeface="DM Sans"/>
              </a:rPr>
              <a:t>:  ¿El precio promedio de las viviendas es mayor en la medida que mejora las condiciones de las mismas?</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Conclusion</a:t>
            </a:r>
            <a:r>
              <a:rPr lang="en-US">
                <a:solidFill>
                  <a:schemeClr val="dk1"/>
                </a:solidFill>
                <a:latin typeface="DM Sans"/>
                <a:ea typeface="DM Sans"/>
                <a:cs typeface="DM Sans"/>
                <a:sym typeface="DM Sans"/>
              </a:rPr>
              <a:t>: Como era de esperarse, que </a:t>
            </a:r>
            <a:r>
              <a:rPr lang="en-US" b="1">
                <a:solidFill>
                  <a:schemeClr val="dk1"/>
                </a:solidFill>
                <a:latin typeface="DM Sans"/>
                <a:ea typeface="DM Sans"/>
                <a:cs typeface="DM Sans"/>
                <a:sym typeface="DM Sans"/>
              </a:rPr>
              <a:t>a mejor condición de la vivienda mayor es el precio</a:t>
            </a:r>
            <a:r>
              <a:rPr lang="en-US">
                <a:solidFill>
                  <a:schemeClr val="dk1"/>
                </a:solidFill>
                <a:latin typeface="DM Sans"/>
                <a:ea typeface="DM Sans"/>
                <a:cs typeface="DM Sans"/>
                <a:sym typeface="DM Sans"/>
              </a:rPr>
              <a:t> promedio de la misma. </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No obstante se observa que no existen diferencias significativas entre los precios de las viviendas de condición   </a:t>
            </a:r>
            <a:r>
              <a:rPr lang="en-US" b="1">
                <a:solidFill>
                  <a:schemeClr val="dk1"/>
                </a:solidFill>
                <a:latin typeface="DM Sans"/>
                <a:ea typeface="DM Sans"/>
                <a:cs typeface="DM Sans"/>
                <a:sym typeface="DM Sans"/>
              </a:rPr>
              <a:t>1 y 2</a:t>
            </a:r>
            <a:r>
              <a:rPr lang="en-US">
                <a:solidFill>
                  <a:schemeClr val="dk1"/>
                </a:solidFill>
                <a:latin typeface="DM Sans"/>
                <a:ea typeface="DM Sans"/>
                <a:cs typeface="DM Sans"/>
                <a:sym typeface="DM Sans"/>
              </a:rPr>
              <a:t> cuyos precios promedio rondan los </a:t>
            </a:r>
            <a:r>
              <a:rPr lang="en-US" b="1">
                <a:solidFill>
                  <a:schemeClr val="dk1"/>
                </a:solidFill>
                <a:latin typeface="DM Sans"/>
                <a:ea typeface="DM Sans"/>
                <a:cs typeface="DM Sans"/>
                <a:sym typeface="DM Sans"/>
              </a:rPr>
              <a:t>300.000 </a:t>
            </a:r>
            <a:r>
              <a:rPr lang="en-US">
                <a:solidFill>
                  <a:schemeClr val="dk1"/>
                </a:solidFill>
                <a:latin typeface="DM Sans"/>
                <a:ea typeface="DM Sans"/>
                <a:cs typeface="DM Sans"/>
                <a:sym typeface="DM Sans"/>
              </a:rPr>
              <a:t>y entre las propiedades de </a:t>
            </a:r>
            <a:r>
              <a:rPr lang="en-US" b="1">
                <a:solidFill>
                  <a:schemeClr val="dk1"/>
                </a:solidFill>
                <a:latin typeface="DM Sans"/>
                <a:ea typeface="DM Sans"/>
                <a:cs typeface="DM Sans"/>
                <a:sym typeface="DM Sans"/>
              </a:rPr>
              <a:t>condición 3 y 4 </a:t>
            </a:r>
            <a:r>
              <a:rPr lang="en-US">
                <a:solidFill>
                  <a:schemeClr val="dk1"/>
                </a:solidFill>
                <a:latin typeface="DM Sans"/>
                <a:ea typeface="DM Sans"/>
                <a:cs typeface="DM Sans"/>
                <a:sym typeface="DM Sans"/>
              </a:rPr>
              <a:t>respectivamente cuyos precios promedios se observan </a:t>
            </a:r>
            <a:r>
              <a:rPr lang="en-US" b="1">
                <a:solidFill>
                  <a:schemeClr val="dk1"/>
                </a:solidFill>
                <a:latin typeface="DM Sans"/>
                <a:ea typeface="DM Sans"/>
                <a:cs typeface="DM Sans"/>
                <a:sym typeface="DM Sans"/>
              </a:rPr>
              <a:t>cercanos a los 500.000.</a:t>
            </a:r>
            <a:endParaRPr sz="1050" b="1">
              <a:solidFill>
                <a:srgbClr val="D4D4D4"/>
              </a:solidFill>
              <a:highlight>
                <a:srgbClr val="1E1E1E"/>
              </a:highlight>
              <a:latin typeface="Courier New"/>
              <a:ea typeface="Courier New"/>
              <a:cs typeface="Courier New"/>
              <a:sym typeface="Courier New"/>
            </a:endParaRPr>
          </a:p>
          <a:p>
            <a:pPr marL="0" marR="0" lvl="0" indent="0" algn="l" rtl="0">
              <a:spcBef>
                <a:spcPts val="0"/>
              </a:spcBef>
              <a:spcAft>
                <a:spcPts val="0"/>
              </a:spcAft>
              <a:buNone/>
            </a:pPr>
            <a:endParaRPr sz="1300">
              <a:solidFill>
                <a:schemeClr val="dk1"/>
              </a:solidFill>
              <a:latin typeface="DM Sans"/>
              <a:ea typeface="DM Sans"/>
              <a:cs typeface="DM Sans"/>
              <a:sym typeface="DM Sans"/>
            </a:endParaRPr>
          </a:p>
        </p:txBody>
      </p:sp>
      <p:sp>
        <p:nvSpPr>
          <p:cNvPr id="263" name="Google Shape;263;p39"/>
          <p:cNvSpPr txBox="1"/>
          <p:nvPr/>
        </p:nvSpPr>
        <p:spPr>
          <a:xfrm>
            <a:off x="480873" y="506701"/>
            <a:ext cx="2247300" cy="13791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Analisis</a:t>
            </a:r>
            <a:endParaRPr sz="2800"/>
          </a:p>
          <a:p>
            <a:pPr marL="0" marR="0" lvl="0" indent="0" algn="l" rtl="0">
              <a:lnSpc>
                <a:spcPct val="80000"/>
              </a:lnSpc>
              <a:spcBef>
                <a:spcPts val="0"/>
              </a:spcBef>
              <a:spcAft>
                <a:spcPts val="0"/>
              </a:spcAft>
              <a:buClr>
                <a:srgbClr val="000000"/>
              </a:buClr>
              <a:buSzPts val="2800"/>
              <a:buFont typeface="Arial"/>
              <a:buNone/>
            </a:pPr>
            <a:r>
              <a:rPr lang="en-US" sz="2800"/>
              <a:t>Bivariado:</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800" b="1"/>
              <a:t>Precio y Condicion</a:t>
            </a:r>
            <a:endParaRPr/>
          </a:p>
        </p:txBody>
      </p:sp>
      <p:sp>
        <p:nvSpPr>
          <p:cNvPr id="264" name="Google Shape;264;p39"/>
          <p:cNvSpPr txBox="1"/>
          <p:nvPr/>
        </p:nvSpPr>
        <p:spPr>
          <a:xfrm>
            <a:off x="2728175" y="506700"/>
            <a:ext cx="8879400" cy="6897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latin typeface="Helvetica Neue"/>
                <a:ea typeface="Helvetica Neue"/>
                <a:cs typeface="Helvetica Neue"/>
                <a:sym typeface="Helvetica Neue"/>
              </a:rPr>
              <a:t>¿Cual es la </a:t>
            </a:r>
            <a:r>
              <a:rPr lang="en-US" sz="2800" b="1">
                <a:latin typeface="Helvetica Neue"/>
                <a:ea typeface="Helvetica Neue"/>
                <a:cs typeface="Helvetica Neue"/>
                <a:sym typeface="Helvetica Neue"/>
              </a:rPr>
              <a:t>relación entre el precio promedio </a:t>
            </a:r>
            <a:r>
              <a:rPr lang="en-US" sz="2800">
                <a:latin typeface="Helvetica Neue"/>
                <a:ea typeface="Helvetica Neue"/>
                <a:cs typeface="Helvetica Neue"/>
                <a:sym typeface="Helvetica Neue"/>
              </a:rPr>
              <a:t>de las viviendas y la </a:t>
            </a:r>
            <a:r>
              <a:rPr lang="en-US" sz="2800" b="1">
                <a:latin typeface="Helvetica Neue"/>
                <a:ea typeface="Helvetica Neue"/>
                <a:cs typeface="Helvetica Neue"/>
                <a:sym typeface="Helvetica Neue"/>
              </a:rPr>
              <a:t>condición </a:t>
            </a:r>
            <a:r>
              <a:rPr lang="en-US" sz="2800">
                <a:latin typeface="Helvetica Neue"/>
                <a:ea typeface="Helvetica Neue"/>
                <a:cs typeface="Helvetica Neue"/>
                <a:sym typeface="Helvetica Neue"/>
              </a:rPr>
              <a:t>de la misma? </a:t>
            </a:r>
            <a:endParaRPr sz="100" b="1" i="0" u="none" strike="noStrike" cap="none">
              <a:solidFill>
                <a:srgbClr val="888888"/>
              </a:solidFill>
              <a:latin typeface="Helvetica Neue"/>
              <a:ea typeface="Helvetica Neue"/>
              <a:cs typeface="Helvetica Neue"/>
              <a:sym typeface="Helvetica Neue"/>
            </a:endParaRPr>
          </a:p>
        </p:txBody>
      </p:sp>
      <p:pic>
        <p:nvPicPr>
          <p:cNvPr id="265" name="Google Shape;265;p39"/>
          <p:cNvPicPr preferRelativeResize="0"/>
          <p:nvPr/>
        </p:nvPicPr>
        <p:blipFill>
          <a:blip r:embed="rId3">
            <a:alphaModFix/>
          </a:blip>
          <a:stretch>
            <a:fillRect/>
          </a:stretch>
        </p:blipFill>
        <p:spPr>
          <a:xfrm>
            <a:off x="480875" y="2028175"/>
            <a:ext cx="5160975" cy="4070224"/>
          </a:xfrm>
          <a:prstGeom prst="rect">
            <a:avLst/>
          </a:prstGeom>
          <a:noFill/>
          <a:ln>
            <a:noFill/>
          </a:ln>
        </p:spPr>
      </p:pic>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0"/>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16</a:t>
            </a:fld>
            <a:endParaRPr sz="1050" b="0" i="0" u="none" strike="noStrike" cap="none">
              <a:solidFill>
                <a:srgbClr val="000000"/>
              </a:solidFill>
              <a:latin typeface="Arial"/>
              <a:ea typeface="Arial"/>
              <a:cs typeface="Arial"/>
              <a:sym typeface="Arial"/>
            </a:endParaRPr>
          </a:p>
        </p:txBody>
      </p:sp>
      <p:sp>
        <p:nvSpPr>
          <p:cNvPr id="272" name="Google Shape;272;p40"/>
          <p:cNvSpPr/>
          <p:nvPr/>
        </p:nvSpPr>
        <p:spPr>
          <a:xfrm>
            <a:off x="3593175" y="1369175"/>
            <a:ext cx="8220900" cy="26871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Hipotesis:</a:t>
            </a:r>
            <a:r>
              <a:rPr lang="en-US">
                <a:solidFill>
                  <a:schemeClr val="dk1"/>
                </a:solidFill>
                <a:latin typeface="DM Sans"/>
                <a:ea typeface="DM Sans"/>
                <a:cs typeface="DM Sans"/>
                <a:sym typeface="DM Sans"/>
              </a:rPr>
              <a:t> ¿El precio de las viviendas es mayor en la medida que la vivienda tiene más pisos?. ¿Influye si además la vivienda fue renovada?</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b="1" u="sng">
                <a:solidFill>
                  <a:schemeClr val="dk1"/>
                </a:solidFill>
                <a:latin typeface="DM Sans"/>
                <a:ea typeface="DM Sans"/>
                <a:cs typeface="DM Sans"/>
                <a:sym typeface="DM Sans"/>
              </a:rPr>
              <a:t>Conclusion</a:t>
            </a:r>
            <a:r>
              <a:rPr lang="en-US">
                <a:solidFill>
                  <a:schemeClr val="dk1"/>
                </a:solidFill>
                <a:latin typeface="DM Sans"/>
                <a:ea typeface="DM Sans"/>
                <a:cs typeface="DM Sans"/>
                <a:sym typeface="DM Sans"/>
              </a:rPr>
              <a:t>: Del gráfico circular se expone que el </a:t>
            </a:r>
            <a:r>
              <a:rPr lang="en-US" b="1">
                <a:solidFill>
                  <a:schemeClr val="dk1"/>
                </a:solidFill>
                <a:latin typeface="DM Sans"/>
                <a:ea typeface="DM Sans"/>
                <a:cs typeface="DM Sans"/>
                <a:sym typeface="DM Sans"/>
              </a:rPr>
              <a:t>40.5% de las propiedades fueron renovadas</a:t>
            </a:r>
            <a:r>
              <a:rPr lang="en-US">
                <a:solidFill>
                  <a:schemeClr val="dk1"/>
                </a:solidFill>
                <a:latin typeface="DM Sans"/>
                <a:ea typeface="DM Sans"/>
                <a:cs typeface="DM Sans"/>
                <a:sym typeface="DM Sans"/>
              </a:rPr>
              <a:t>.</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Mientras que el gráfico de barras se desprende que </a:t>
            </a:r>
            <a:r>
              <a:rPr lang="en-US" b="1">
                <a:solidFill>
                  <a:schemeClr val="dk1"/>
                </a:solidFill>
                <a:latin typeface="DM Sans"/>
                <a:ea typeface="DM Sans"/>
                <a:cs typeface="DM Sans"/>
                <a:sym typeface="DM Sans"/>
              </a:rPr>
              <a:t>los precios de las viviendas no son significativamente mayores a medida que la vivienda cuenta con mayor cantidad de pisos.</a:t>
            </a:r>
            <a:endParaRPr>
              <a:solidFill>
                <a:schemeClr val="dk1"/>
              </a:solidFill>
              <a:latin typeface="DM Sans"/>
              <a:ea typeface="DM Sans"/>
              <a:cs typeface="DM Sans"/>
              <a:sym typeface="DM Sans"/>
            </a:endParaRPr>
          </a:p>
        </p:txBody>
      </p:sp>
      <p:sp>
        <p:nvSpPr>
          <p:cNvPr id="273" name="Google Shape;273;p40"/>
          <p:cNvSpPr txBox="1"/>
          <p:nvPr/>
        </p:nvSpPr>
        <p:spPr>
          <a:xfrm>
            <a:off x="3645400" y="506700"/>
            <a:ext cx="7132200" cy="7173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latin typeface="Helvetica Neue"/>
                <a:ea typeface="Helvetica Neue"/>
                <a:cs typeface="Helvetica Neue"/>
                <a:sym typeface="Helvetica Neue"/>
              </a:rPr>
              <a:t>¿El precio de la propiedad se ve afectado si la vivienda fue </a:t>
            </a:r>
            <a:r>
              <a:rPr lang="en-US" sz="2800" b="1">
                <a:latin typeface="Helvetica Neue"/>
                <a:ea typeface="Helvetica Neue"/>
                <a:cs typeface="Helvetica Neue"/>
                <a:sym typeface="Helvetica Neue"/>
              </a:rPr>
              <a:t>renovada</a:t>
            </a:r>
            <a:r>
              <a:rPr lang="en-US" sz="2800">
                <a:latin typeface="Helvetica Neue"/>
                <a:ea typeface="Helvetica Neue"/>
                <a:cs typeface="Helvetica Neue"/>
                <a:sym typeface="Helvetica Neue"/>
              </a:rPr>
              <a:t>?</a:t>
            </a:r>
            <a:endParaRPr sz="2800">
              <a:latin typeface="Helvetica Neue"/>
              <a:ea typeface="Helvetica Neue"/>
              <a:cs typeface="Helvetica Neue"/>
              <a:sym typeface="Helvetica Neue"/>
            </a:endParaRPr>
          </a:p>
          <a:p>
            <a:pPr marL="0" marR="0" lvl="0" indent="0" algn="l" rtl="0">
              <a:lnSpc>
                <a:spcPct val="80000"/>
              </a:lnSpc>
              <a:spcBef>
                <a:spcPts val="0"/>
              </a:spcBef>
              <a:spcAft>
                <a:spcPts val="0"/>
              </a:spcAft>
              <a:buClr>
                <a:srgbClr val="000000"/>
              </a:buClr>
              <a:buSzPts val="2800"/>
              <a:buFont typeface="Arial"/>
              <a:buNone/>
            </a:pPr>
            <a:endParaRPr sz="100" b="1" i="0" u="none" strike="noStrike" cap="none">
              <a:solidFill>
                <a:srgbClr val="888888"/>
              </a:solidFill>
              <a:latin typeface="Helvetica Neue"/>
              <a:ea typeface="Helvetica Neue"/>
              <a:cs typeface="Helvetica Neue"/>
              <a:sym typeface="Helvetica Neue"/>
            </a:endParaRPr>
          </a:p>
        </p:txBody>
      </p:sp>
      <p:sp>
        <p:nvSpPr>
          <p:cNvPr id="274" name="Google Shape;274;p40"/>
          <p:cNvSpPr txBox="1"/>
          <p:nvPr/>
        </p:nvSpPr>
        <p:spPr>
          <a:xfrm>
            <a:off x="480875" y="506700"/>
            <a:ext cx="2478600" cy="13791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Analisis</a:t>
            </a:r>
            <a:endParaRPr sz="2800"/>
          </a:p>
          <a:p>
            <a:pPr marL="0" marR="0" lvl="0" indent="0" algn="l" rtl="0">
              <a:lnSpc>
                <a:spcPct val="80000"/>
              </a:lnSpc>
              <a:spcBef>
                <a:spcPts val="0"/>
              </a:spcBef>
              <a:spcAft>
                <a:spcPts val="0"/>
              </a:spcAft>
              <a:buClr>
                <a:srgbClr val="000000"/>
              </a:buClr>
              <a:buSzPts val="2800"/>
              <a:buFont typeface="Arial"/>
              <a:buNone/>
            </a:pPr>
            <a:r>
              <a:rPr lang="en-US" sz="2800"/>
              <a:t>Multivariado:</a:t>
            </a:r>
            <a:r>
              <a:rPr lang="en-US" sz="2800" b="0" i="0" u="none" strike="noStrike" cap="none">
                <a:solidFill>
                  <a:srgbClr val="000000"/>
                </a:solidFill>
                <a:latin typeface="Arial"/>
                <a:ea typeface="Arial"/>
                <a:cs typeface="Arial"/>
                <a:sym typeface="Arial"/>
              </a:rPr>
              <a:t> </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800" b="1"/>
              <a:t>Precio, </a:t>
            </a:r>
            <a:r>
              <a:rPr lang="en-US" sz="2800" b="1">
                <a:solidFill>
                  <a:schemeClr val="dk1"/>
                </a:solidFill>
              </a:rPr>
              <a:t>Pisos y </a:t>
            </a:r>
            <a:r>
              <a:rPr lang="en-US" sz="2800" b="1"/>
              <a:t>Renovación </a:t>
            </a:r>
            <a:endParaRPr/>
          </a:p>
        </p:txBody>
      </p:sp>
      <p:pic>
        <p:nvPicPr>
          <p:cNvPr id="275" name="Google Shape;275;p40"/>
          <p:cNvPicPr preferRelativeResize="0"/>
          <p:nvPr/>
        </p:nvPicPr>
        <p:blipFill>
          <a:blip r:embed="rId3">
            <a:alphaModFix/>
          </a:blip>
          <a:stretch>
            <a:fillRect/>
          </a:stretch>
        </p:blipFill>
        <p:spPr>
          <a:xfrm>
            <a:off x="377050" y="3052751"/>
            <a:ext cx="3048475" cy="3537000"/>
          </a:xfrm>
          <a:prstGeom prst="rect">
            <a:avLst/>
          </a:prstGeom>
          <a:noFill/>
          <a:ln>
            <a:noFill/>
          </a:ln>
        </p:spPr>
      </p:pic>
      <p:pic>
        <p:nvPicPr>
          <p:cNvPr id="276" name="Google Shape;276;p40"/>
          <p:cNvPicPr preferRelativeResize="0"/>
          <p:nvPr/>
        </p:nvPicPr>
        <p:blipFill>
          <a:blip r:embed="rId4">
            <a:alphaModFix/>
          </a:blip>
          <a:stretch>
            <a:fillRect/>
          </a:stretch>
        </p:blipFill>
        <p:spPr>
          <a:xfrm>
            <a:off x="3715100" y="3052750"/>
            <a:ext cx="5684685" cy="3537000"/>
          </a:xfrm>
          <a:prstGeom prst="rect">
            <a:avLst/>
          </a:prstGeom>
          <a:noFill/>
          <a:ln>
            <a:noFill/>
          </a:ln>
        </p:spPr>
      </p:pic>
      <p:sp>
        <p:nvSpPr>
          <p:cNvPr id="277" name="Google Shape;277;p40"/>
          <p:cNvSpPr/>
          <p:nvPr/>
        </p:nvSpPr>
        <p:spPr>
          <a:xfrm>
            <a:off x="9563925" y="3091075"/>
            <a:ext cx="2250300" cy="2781600"/>
          </a:xfrm>
          <a:prstGeom prst="rect">
            <a:avLst/>
          </a:prstGeom>
          <a:noFill/>
          <a:ln>
            <a:noFill/>
          </a:ln>
        </p:spPr>
        <p:txBody>
          <a:bodyPr spcFirstLastPara="1" wrap="square" lIns="91425" tIns="45700" rIns="91425" bIns="45700" anchor="t" anchorCtr="0">
            <a:noAutofit/>
          </a:bodyPr>
          <a:lstStyle/>
          <a:p>
            <a:pPr marL="0" lvl="0" indent="0" algn="l" rtl="0">
              <a:lnSpc>
                <a:spcPct val="135714"/>
              </a:lnSpc>
              <a:spcBef>
                <a:spcPts val="0"/>
              </a:spcBef>
              <a:spcAft>
                <a:spcPts val="0"/>
              </a:spcAft>
              <a:buSzPts val="1100"/>
              <a:buNone/>
            </a:pPr>
            <a:r>
              <a:rPr lang="en-US">
                <a:solidFill>
                  <a:schemeClr val="dk1"/>
                </a:solidFill>
                <a:latin typeface="DM Sans"/>
                <a:ea typeface="DM Sans"/>
                <a:cs typeface="DM Sans"/>
                <a:sym typeface="DM Sans"/>
              </a:rPr>
              <a:t>Este último visualiza, además, que el hecho que la vivienda haya sufrido</a:t>
            </a:r>
            <a:r>
              <a:rPr lang="en-US" b="1">
                <a:solidFill>
                  <a:schemeClr val="dk1"/>
                </a:solidFill>
                <a:latin typeface="DM Sans"/>
                <a:ea typeface="DM Sans"/>
                <a:cs typeface="DM Sans"/>
                <a:sym typeface="DM Sans"/>
              </a:rPr>
              <a:t> una reforma no implica un cambio significativo en el precio </a:t>
            </a:r>
            <a:r>
              <a:rPr lang="en-US">
                <a:solidFill>
                  <a:schemeClr val="dk1"/>
                </a:solidFill>
                <a:latin typeface="DM Sans"/>
                <a:ea typeface="DM Sans"/>
                <a:cs typeface="DM Sans"/>
                <a:sym typeface="DM Sans"/>
              </a:rPr>
              <a:t>de la misma.</a:t>
            </a:r>
            <a:endParaRPr>
              <a:solidFill>
                <a:schemeClr val="dk1"/>
              </a:solidFill>
              <a:latin typeface="DM Sans"/>
              <a:ea typeface="DM Sans"/>
              <a:cs typeface="DM Sans"/>
              <a:sym typeface="DM Sans"/>
            </a:endParaRPr>
          </a:p>
          <a:p>
            <a:pPr marL="0" lvl="0" indent="0" algn="l" rtl="0">
              <a:lnSpc>
                <a:spcPct val="135714"/>
              </a:lnSpc>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marR="0" lvl="0" indent="0" algn="l" rtl="0">
              <a:spcBef>
                <a:spcPts val="0"/>
              </a:spcBef>
              <a:spcAft>
                <a:spcPts val="0"/>
              </a:spcAft>
              <a:buNone/>
            </a:pPr>
            <a:endParaRPr>
              <a:solidFill>
                <a:schemeClr val="dk1"/>
              </a:solidFill>
              <a:latin typeface="DM Sans"/>
              <a:ea typeface="DM Sans"/>
              <a:cs typeface="DM Sans"/>
              <a:sym typeface="DM Sans"/>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1"/>
          <p:cNvSpPr txBox="1"/>
          <p:nvPr/>
        </p:nvSpPr>
        <p:spPr>
          <a:xfrm>
            <a:off x="11506202" y="6519009"/>
            <a:ext cx="685798" cy="20637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17</a:t>
            </a:fld>
            <a:endParaRPr sz="1050" b="0" i="0" u="none" strike="noStrike" cap="none">
              <a:solidFill>
                <a:srgbClr val="000000"/>
              </a:solidFill>
              <a:latin typeface="Arial"/>
              <a:ea typeface="Arial"/>
              <a:cs typeface="Arial"/>
              <a:sym typeface="Arial"/>
            </a:endParaRPr>
          </a:p>
        </p:txBody>
      </p:sp>
      <p:sp>
        <p:nvSpPr>
          <p:cNvPr id="284" name="Google Shape;284;p41"/>
          <p:cNvSpPr txBox="1"/>
          <p:nvPr/>
        </p:nvSpPr>
        <p:spPr>
          <a:xfrm>
            <a:off x="429592" y="2505670"/>
            <a:ext cx="10857900" cy="1477800"/>
          </a:xfrm>
          <a:prstGeom prst="rect">
            <a:avLst/>
          </a:prstGeom>
          <a:noFill/>
          <a:ln>
            <a:noFill/>
          </a:ln>
        </p:spPr>
        <p:txBody>
          <a:bodyPr spcFirstLastPara="1" wrap="square" lIns="0" tIns="0" rIns="0" bIns="0" anchor="ctr" anchorCtr="0">
            <a:noAutofit/>
          </a:bodyPr>
          <a:lstStyle/>
          <a:p>
            <a:pPr marL="0" marR="0" lvl="0" indent="0" algn="ctr" rtl="0">
              <a:lnSpc>
                <a:spcPct val="80000"/>
              </a:lnSpc>
              <a:spcBef>
                <a:spcPts val="0"/>
              </a:spcBef>
              <a:spcAft>
                <a:spcPts val="0"/>
              </a:spcAft>
              <a:buClr>
                <a:schemeClr val="lt1"/>
              </a:buClr>
              <a:buSzPts val="6000"/>
              <a:buFont typeface="Arial"/>
              <a:buNone/>
            </a:pPr>
            <a:r>
              <a:rPr lang="en-US" sz="6000"/>
              <a:t>INSIGHTS &amp;</a:t>
            </a:r>
            <a:endParaRPr sz="6000"/>
          </a:p>
          <a:p>
            <a:pPr marL="0" marR="0" lvl="0" indent="0" algn="ctr" rtl="0">
              <a:lnSpc>
                <a:spcPct val="80000"/>
              </a:lnSpc>
              <a:spcBef>
                <a:spcPts val="0"/>
              </a:spcBef>
              <a:spcAft>
                <a:spcPts val="0"/>
              </a:spcAft>
              <a:buClr>
                <a:schemeClr val="lt1"/>
              </a:buClr>
              <a:buSzPts val="6000"/>
              <a:buFont typeface="Arial"/>
              <a:buNone/>
            </a:pPr>
            <a:r>
              <a:rPr lang="en-US" sz="6000" b="1"/>
              <a:t>CONCLUSIONES</a:t>
            </a:r>
            <a:endParaRPr sz="6000" b="1"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cxnSp>
        <p:nvCxnSpPr>
          <p:cNvPr id="290" name="Google Shape;290;p42"/>
          <p:cNvCxnSpPr/>
          <p:nvPr/>
        </p:nvCxnSpPr>
        <p:spPr>
          <a:xfrm>
            <a:off x="3238501" y="287524"/>
            <a:ext cx="13800" cy="6231600"/>
          </a:xfrm>
          <a:prstGeom prst="straightConnector1">
            <a:avLst/>
          </a:prstGeom>
          <a:noFill/>
          <a:ln w="12700" cap="flat" cmpd="sng">
            <a:solidFill>
              <a:schemeClr val="dk1"/>
            </a:solidFill>
            <a:prstDash val="solid"/>
            <a:miter lim="800000"/>
            <a:headEnd type="none" w="sm" len="sm"/>
            <a:tailEnd type="none" w="sm" len="sm"/>
          </a:ln>
        </p:spPr>
      </p:cxnSp>
      <p:sp>
        <p:nvSpPr>
          <p:cNvPr id="291" name="Google Shape;291;p42"/>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18</a:t>
            </a:fld>
            <a:endParaRPr sz="1050" b="0" i="0" u="none" strike="noStrike" cap="none">
              <a:solidFill>
                <a:srgbClr val="000000"/>
              </a:solidFill>
              <a:latin typeface="Arial"/>
              <a:ea typeface="Arial"/>
              <a:cs typeface="Arial"/>
              <a:sym typeface="Arial"/>
            </a:endParaRPr>
          </a:p>
        </p:txBody>
      </p:sp>
      <p:sp>
        <p:nvSpPr>
          <p:cNvPr id="292" name="Google Shape;292;p42"/>
          <p:cNvSpPr txBox="1"/>
          <p:nvPr/>
        </p:nvSpPr>
        <p:spPr>
          <a:xfrm>
            <a:off x="384622" y="2758763"/>
            <a:ext cx="2718000" cy="6651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INSIGHTS Y</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600" b="1"/>
              <a:t>CONCLUSIONES</a:t>
            </a:r>
            <a:endParaRPr sz="2600" b="1" i="0" u="none" strike="noStrike" cap="none">
              <a:solidFill>
                <a:srgbClr val="000000"/>
              </a:solidFill>
              <a:latin typeface="Arial"/>
              <a:ea typeface="Arial"/>
              <a:cs typeface="Arial"/>
              <a:sym typeface="Arial"/>
            </a:endParaRPr>
          </a:p>
        </p:txBody>
      </p:sp>
      <p:sp>
        <p:nvSpPr>
          <p:cNvPr id="293" name="Google Shape;293;p42"/>
          <p:cNvSpPr/>
          <p:nvPr/>
        </p:nvSpPr>
        <p:spPr>
          <a:xfrm>
            <a:off x="3583900" y="414125"/>
            <a:ext cx="8103900" cy="5235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chemeClr val="dk1"/>
              </a:solidFill>
              <a:latin typeface="Helvetica Neue Light"/>
              <a:ea typeface="Helvetica Neue Light"/>
              <a:cs typeface="Helvetica Neue Light"/>
              <a:sym typeface="Helvetica Neue Light"/>
            </a:endParaRPr>
          </a:p>
          <a:p>
            <a:pPr marL="457200" lvl="0" indent="-342900" algn="l" rtl="0">
              <a:spcBef>
                <a:spcPts val="0"/>
              </a:spcBef>
              <a:spcAft>
                <a:spcPts val="0"/>
              </a:spcAft>
              <a:buClr>
                <a:schemeClr val="dk1"/>
              </a:buClr>
              <a:buSzPts val="1800"/>
              <a:buFont typeface="Helvetica Neue"/>
              <a:buAutoNum type="arabicParenR"/>
            </a:pPr>
            <a:r>
              <a:rPr lang="en-US" sz="1800" b="1">
                <a:solidFill>
                  <a:schemeClr val="dk1"/>
                </a:solidFill>
                <a:latin typeface="Helvetica Neue"/>
                <a:ea typeface="Helvetica Neue"/>
                <a:cs typeface="Helvetica Neue"/>
                <a:sym typeface="Helvetica Neue"/>
              </a:rPr>
              <a:t>Características de las viviendas en EEUU</a:t>
            </a:r>
            <a:endParaRPr sz="1800" b="1">
              <a:solidFill>
                <a:schemeClr val="dk1"/>
              </a:solidFill>
              <a:latin typeface="Helvetica Neue"/>
              <a:ea typeface="Helvetica Neue"/>
              <a:cs typeface="Helvetica Neue"/>
              <a:sym typeface="Helvetica Neue"/>
            </a:endParaRPr>
          </a:p>
          <a:p>
            <a:pPr marL="457200" lvl="0" indent="-342900" algn="l" rtl="0">
              <a:lnSpc>
                <a:spcPct val="135714"/>
              </a:lnSpc>
              <a:spcBef>
                <a:spcPts val="0"/>
              </a:spcBef>
              <a:spcAft>
                <a:spcPts val="0"/>
              </a:spcAft>
              <a:buClr>
                <a:schemeClr val="dk1"/>
              </a:buClr>
              <a:buSzPts val="1800"/>
              <a:buFont typeface="Helvetica Neue Light"/>
              <a:buChar char="▪"/>
            </a:pPr>
            <a:r>
              <a:rPr lang="en-US">
                <a:solidFill>
                  <a:schemeClr val="dk1"/>
                </a:solidFill>
                <a:latin typeface="DM Sans"/>
                <a:ea typeface="DM Sans"/>
                <a:cs typeface="DM Sans"/>
                <a:sym typeface="DM Sans"/>
              </a:rPr>
              <a:t> Del análisis efectuado podemos concluir que el </a:t>
            </a:r>
            <a:r>
              <a:rPr lang="en-US" b="1">
                <a:solidFill>
                  <a:schemeClr val="dk1"/>
                </a:solidFill>
                <a:latin typeface="DM Sans"/>
                <a:ea typeface="DM Sans"/>
                <a:cs typeface="DM Sans"/>
                <a:sym typeface="DM Sans"/>
              </a:rPr>
              <a:t>89%</a:t>
            </a:r>
            <a:r>
              <a:rPr lang="en-US">
                <a:solidFill>
                  <a:schemeClr val="dk1"/>
                </a:solidFill>
                <a:latin typeface="DM Sans"/>
                <a:ea typeface="DM Sans"/>
                <a:cs typeface="DM Sans"/>
                <a:sym typeface="DM Sans"/>
              </a:rPr>
              <a:t> de las viviendas que cuentan </a:t>
            </a:r>
            <a:r>
              <a:rPr lang="en-US" b="1">
                <a:solidFill>
                  <a:schemeClr val="dk1"/>
                </a:solidFill>
                <a:latin typeface="DM Sans"/>
                <a:ea typeface="DM Sans"/>
                <a:cs typeface="DM Sans"/>
                <a:sym typeface="DM Sans"/>
              </a:rPr>
              <a:t>entre 3 y 4 habitaciones. </a:t>
            </a:r>
            <a:r>
              <a:rPr lang="en-US">
                <a:solidFill>
                  <a:schemeClr val="dk1"/>
                </a:solidFill>
                <a:latin typeface="DM Sans"/>
                <a:ea typeface="DM Sans"/>
                <a:cs typeface="DM Sans"/>
                <a:sym typeface="DM Sans"/>
              </a:rPr>
              <a:t>Respecto a los baño,s las viviendas con</a:t>
            </a:r>
            <a:r>
              <a:rPr lang="en-US" b="1">
                <a:solidFill>
                  <a:schemeClr val="dk1"/>
                </a:solidFill>
                <a:latin typeface="DM Sans"/>
                <a:ea typeface="DM Sans"/>
                <a:cs typeface="DM Sans"/>
                <a:sym typeface="DM Sans"/>
              </a:rPr>
              <a:t> uno o  dos baños explican el 90%</a:t>
            </a:r>
            <a:r>
              <a:rPr lang="en-US">
                <a:solidFill>
                  <a:schemeClr val="dk1"/>
                </a:solidFill>
                <a:latin typeface="DM Sans"/>
                <a:ea typeface="DM Sans"/>
                <a:cs typeface="DM Sans"/>
                <a:sym typeface="DM Sans"/>
              </a:rPr>
              <a:t>. En cuanto a la cantidad de pisos, el 58% de las propiedades cuentan con una sola planta y el 39% con dos</a:t>
            </a:r>
            <a:r>
              <a:rPr lang="en-US" b="1">
                <a:solidFill>
                  <a:schemeClr val="dk1"/>
                </a:solidFill>
                <a:latin typeface="DM Sans"/>
                <a:ea typeface="DM Sans"/>
                <a:cs typeface="DM Sans"/>
                <a:sym typeface="DM Sans"/>
              </a:rPr>
              <a:t>,</a:t>
            </a:r>
            <a:r>
              <a:rPr lang="en-US">
                <a:solidFill>
                  <a:schemeClr val="dk1"/>
                </a:solidFill>
                <a:latin typeface="DM Sans"/>
                <a:ea typeface="DM Sans"/>
                <a:cs typeface="DM Sans"/>
                <a:sym typeface="DM Sans"/>
              </a:rPr>
              <a:t> es decir que</a:t>
            </a:r>
            <a:r>
              <a:rPr lang="en-US" b="1">
                <a:solidFill>
                  <a:schemeClr val="dk1"/>
                </a:solidFill>
                <a:latin typeface="DM Sans"/>
                <a:ea typeface="DM Sans"/>
                <a:cs typeface="DM Sans"/>
                <a:sym typeface="DM Sans"/>
              </a:rPr>
              <a:t> solo el </a:t>
            </a:r>
            <a:r>
              <a:rPr lang="en-US">
                <a:solidFill>
                  <a:schemeClr val="dk1"/>
                </a:solidFill>
                <a:latin typeface="DM Sans"/>
                <a:ea typeface="DM Sans"/>
                <a:cs typeface="DM Sans"/>
                <a:sym typeface="DM Sans"/>
              </a:rPr>
              <a:t> </a:t>
            </a:r>
            <a:r>
              <a:rPr lang="en-US" b="1">
                <a:solidFill>
                  <a:schemeClr val="dk1"/>
                </a:solidFill>
                <a:latin typeface="DM Sans"/>
                <a:ea typeface="DM Sans"/>
                <a:cs typeface="DM Sans"/>
                <a:sym typeface="DM Sans"/>
              </a:rPr>
              <a:t>3% de las vivienda cuentan con tres o más pisos.</a:t>
            </a:r>
            <a:endParaRPr b="1">
              <a:solidFill>
                <a:schemeClr val="dk1"/>
              </a:solidFill>
              <a:latin typeface="DM Sans"/>
              <a:ea typeface="DM Sans"/>
              <a:cs typeface="DM Sans"/>
              <a:sym typeface="DM Sans"/>
            </a:endParaRPr>
          </a:p>
          <a:p>
            <a:pPr marL="0" lvl="0" indent="0" algn="l" rtl="0">
              <a:spcBef>
                <a:spcPts val="0"/>
              </a:spcBef>
              <a:spcAft>
                <a:spcPts val="0"/>
              </a:spcAft>
              <a:buNone/>
            </a:pPr>
            <a:endParaRPr sz="18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sz="1800" b="1">
                <a:solidFill>
                  <a:schemeClr val="dk1"/>
                </a:solidFill>
                <a:latin typeface="Helvetica Neue"/>
                <a:ea typeface="Helvetica Neue"/>
                <a:cs typeface="Helvetica Neue"/>
                <a:sym typeface="Helvetica Neue"/>
              </a:rPr>
              <a:t>2)  Análisis del  Precio de las propiedades</a:t>
            </a:r>
            <a:endParaRPr sz="1800">
              <a:solidFill>
                <a:schemeClr val="dk1"/>
              </a:solidFill>
              <a:latin typeface="Helvetica Neue Light"/>
              <a:ea typeface="Helvetica Neue Light"/>
              <a:cs typeface="Helvetica Neue Light"/>
              <a:sym typeface="Helvetica Neue Light"/>
            </a:endParaRPr>
          </a:p>
          <a:p>
            <a:pPr marL="457200" lvl="0" indent="-342900" algn="l" rtl="0">
              <a:lnSpc>
                <a:spcPct val="135714"/>
              </a:lnSpc>
              <a:spcBef>
                <a:spcPts val="0"/>
              </a:spcBef>
              <a:spcAft>
                <a:spcPts val="0"/>
              </a:spcAft>
              <a:buClr>
                <a:schemeClr val="dk1"/>
              </a:buClr>
              <a:buSzPts val="1800"/>
              <a:buFont typeface="Helvetica Neue Light"/>
              <a:buChar char="▪"/>
            </a:pPr>
            <a:r>
              <a:rPr lang="en-US">
                <a:solidFill>
                  <a:schemeClr val="dk1"/>
                </a:solidFill>
                <a:latin typeface="DM Sans"/>
                <a:ea typeface="DM Sans"/>
                <a:cs typeface="DM Sans"/>
                <a:sym typeface="DM Sans"/>
              </a:rPr>
              <a:t>Podemos concluir que los precios de la viviendas muestran una distribución prácticamente normal aunque se observa una </a:t>
            </a:r>
            <a:r>
              <a:rPr lang="en-US" b="1">
                <a:solidFill>
                  <a:schemeClr val="dk1"/>
                </a:solidFill>
                <a:latin typeface="DM Sans"/>
                <a:ea typeface="DM Sans"/>
                <a:cs typeface="DM Sans"/>
                <a:sym typeface="DM Sans"/>
              </a:rPr>
              <a:t>leve asimetría de derecha</a:t>
            </a:r>
            <a:r>
              <a:rPr lang="en-US">
                <a:solidFill>
                  <a:schemeClr val="dk1"/>
                </a:solidFill>
                <a:latin typeface="DM Sans"/>
                <a:ea typeface="DM Sans"/>
                <a:cs typeface="DM Sans"/>
                <a:sym typeface="DM Sans"/>
              </a:rPr>
              <a:t>. Además podemos observar que la mayor cantidad observaciones se encuentran </a:t>
            </a:r>
            <a:r>
              <a:rPr lang="en-US" b="1">
                <a:solidFill>
                  <a:schemeClr val="dk1"/>
                </a:solidFill>
                <a:latin typeface="DM Sans"/>
                <a:ea typeface="DM Sans"/>
                <a:cs typeface="DM Sans"/>
                <a:sym typeface="DM Sans"/>
              </a:rPr>
              <a:t>concentradas entre los 200.000 y los 600.000. </a:t>
            </a:r>
            <a:r>
              <a:rPr lang="en-US">
                <a:solidFill>
                  <a:schemeClr val="dk1"/>
                </a:solidFill>
                <a:latin typeface="DM Sans"/>
                <a:ea typeface="DM Sans"/>
                <a:cs typeface="DM Sans"/>
                <a:sym typeface="DM Sans"/>
              </a:rPr>
              <a:t>La </a:t>
            </a:r>
            <a:r>
              <a:rPr lang="en-US" b="1">
                <a:solidFill>
                  <a:schemeClr val="dk1"/>
                </a:solidFill>
                <a:latin typeface="DM Sans"/>
                <a:ea typeface="DM Sans"/>
                <a:cs typeface="DM Sans"/>
                <a:sym typeface="DM Sans"/>
              </a:rPr>
              <a:t>media es de 487.575</a:t>
            </a:r>
            <a:r>
              <a:rPr lang="en-US">
                <a:solidFill>
                  <a:schemeClr val="dk1"/>
                </a:solidFill>
                <a:latin typeface="DM Sans"/>
                <a:ea typeface="DM Sans"/>
                <a:cs typeface="DM Sans"/>
                <a:sym typeface="DM Sans"/>
              </a:rPr>
              <a:t> mientras que la </a:t>
            </a:r>
            <a:r>
              <a:rPr lang="en-US" b="1">
                <a:solidFill>
                  <a:schemeClr val="dk1"/>
                </a:solidFill>
                <a:latin typeface="DM Sans"/>
                <a:ea typeface="DM Sans"/>
                <a:cs typeface="DM Sans"/>
                <a:sym typeface="DM Sans"/>
              </a:rPr>
              <a:t>mediana es de 450.000</a:t>
            </a:r>
            <a:r>
              <a:rPr lang="en-US">
                <a:solidFill>
                  <a:schemeClr val="dk1"/>
                </a:solidFill>
                <a:latin typeface="DM Sans"/>
                <a:ea typeface="DM Sans"/>
                <a:cs typeface="DM Sans"/>
                <a:sym typeface="DM Sans"/>
              </a:rPr>
              <a:t>,  levemente inferior.</a:t>
            </a:r>
            <a:endParaRPr>
              <a:solidFill>
                <a:schemeClr val="dk1"/>
              </a:solidFill>
              <a:latin typeface="DM Sans"/>
              <a:ea typeface="DM Sans"/>
              <a:cs typeface="DM Sans"/>
              <a:sym typeface="DM Sans"/>
            </a:endParaRPr>
          </a:p>
          <a:p>
            <a:pPr marL="457200" lvl="0" indent="0" algn="l" rtl="0">
              <a:lnSpc>
                <a:spcPct val="135714"/>
              </a:lnSpc>
              <a:spcBef>
                <a:spcPts val="0"/>
              </a:spcBef>
              <a:spcAft>
                <a:spcPts val="0"/>
              </a:spcAft>
              <a:buNone/>
            </a:pPr>
            <a:endParaRPr>
              <a:solidFill>
                <a:schemeClr val="dk1"/>
              </a:solidFill>
              <a:latin typeface="DM Sans"/>
              <a:ea typeface="DM Sans"/>
              <a:cs typeface="DM Sans"/>
              <a:sym typeface="DM Sans"/>
            </a:endParaRPr>
          </a:p>
          <a:p>
            <a:pPr marL="457200" lvl="0" indent="-342900" algn="l" rtl="0">
              <a:lnSpc>
                <a:spcPct val="135714"/>
              </a:lnSpc>
              <a:spcBef>
                <a:spcPts val="0"/>
              </a:spcBef>
              <a:spcAft>
                <a:spcPts val="0"/>
              </a:spcAft>
              <a:buClr>
                <a:schemeClr val="dk1"/>
              </a:buClr>
              <a:buSzPts val="1800"/>
              <a:buFont typeface="Helvetica Neue Light"/>
              <a:buChar char="▪"/>
            </a:pPr>
            <a:r>
              <a:rPr lang="en-US">
                <a:solidFill>
                  <a:schemeClr val="dk1"/>
                </a:solidFill>
                <a:latin typeface="DM Sans"/>
                <a:ea typeface="DM Sans"/>
                <a:cs typeface="DM Sans"/>
                <a:sym typeface="DM Sans"/>
              </a:rPr>
              <a:t>Al aplicar </a:t>
            </a:r>
            <a:r>
              <a:rPr lang="en-US" b="1" u="sng">
                <a:solidFill>
                  <a:schemeClr val="dk1"/>
                </a:solidFill>
                <a:latin typeface="DM Sans"/>
                <a:ea typeface="DM Sans"/>
                <a:cs typeface="DM Sans"/>
                <a:sym typeface="DM Sans"/>
              </a:rPr>
              <a:t>T test,</a:t>
            </a:r>
            <a:r>
              <a:rPr lang="en-US">
                <a:solidFill>
                  <a:schemeClr val="dk1"/>
                </a:solidFill>
                <a:latin typeface="DM Sans"/>
                <a:ea typeface="DM Sans"/>
                <a:cs typeface="DM Sans"/>
                <a:sym typeface="DM Sans"/>
              </a:rPr>
              <a:t> el resultado que arroja el valor P es significativamente mayor a 0.05 (nivel de significancia), con lo cual únicamente podemos concluir que </a:t>
            </a:r>
            <a:r>
              <a:rPr lang="en-US" b="1">
                <a:solidFill>
                  <a:schemeClr val="dk1"/>
                </a:solidFill>
                <a:latin typeface="DM Sans"/>
                <a:ea typeface="DM Sans"/>
                <a:cs typeface="DM Sans"/>
                <a:sym typeface="DM Sans"/>
              </a:rPr>
              <a:t>no podemos rechazar H0</a:t>
            </a:r>
            <a:r>
              <a:rPr lang="en-US">
                <a:solidFill>
                  <a:schemeClr val="dk1"/>
                </a:solidFill>
                <a:latin typeface="DM Sans"/>
                <a:ea typeface="DM Sans"/>
                <a:cs typeface="DM Sans"/>
                <a:sym typeface="DM Sans"/>
              </a:rPr>
              <a:t>. En definitiva</a:t>
            </a:r>
            <a:r>
              <a:rPr lang="en-US" b="1">
                <a:solidFill>
                  <a:schemeClr val="dk1"/>
                </a:solidFill>
                <a:latin typeface="DM Sans"/>
                <a:ea typeface="DM Sans"/>
                <a:cs typeface="DM Sans"/>
                <a:sym typeface="DM Sans"/>
              </a:rPr>
              <a:t> no podemos confirmar que hubo un cambio significativo en el precio de las viviendas</a:t>
            </a:r>
            <a:r>
              <a:rPr lang="en-US">
                <a:solidFill>
                  <a:schemeClr val="dk1"/>
                </a:solidFill>
                <a:latin typeface="DM Sans"/>
                <a:ea typeface="DM Sans"/>
                <a:cs typeface="DM Sans"/>
                <a:sym typeface="DM Sans"/>
              </a:rPr>
              <a:t> entre el 2014 y el 2021 </a:t>
            </a:r>
            <a:endParaRPr sz="1800">
              <a:solidFill>
                <a:schemeClr val="dk1"/>
              </a:solidFill>
              <a:latin typeface="Helvetica Neue Light"/>
              <a:ea typeface="Helvetica Neue Light"/>
              <a:cs typeface="Helvetica Neue Light"/>
              <a:sym typeface="Helvetica Neue Light"/>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cxnSp>
        <p:nvCxnSpPr>
          <p:cNvPr id="299" name="Google Shape;299;p43"/>
          <p:cNvCxnSpPr/>
          <p:nvPr/>
        </p:nvCxnSpPr>
        <p:spPr>
          <a:xfrm>
            <a:off x="3238501" y="287524"/>
            <a:ext cx="13800" cy="6231600"/>
          </a:xfrm>
          <a:prstGeom prst="straightConnector1">
            <a:avLst/>
          </a:prstGeom>
          <a:noFill/>
          <a:ln w="12700" cap="flat" cmpd="sng">
            <a:solidFill>
              <a:schemeClr val="dk1"/>
            </a:solidFill>
            <a:prstDash val="solid"/>
            <a:miter lim="800000"/>
            <a:headEnd type="none" w="sm" len="sm"/>
            <a:tailEnd type="none" w="sm" len="sm"/>
          </a:ln>
        </p:spPr>
      </p:cxnSp>
      <p:sp>
        <p:nvSpPr>
          <p:cNvPr id="300" name="Google Shape;300;p43"/>
          <p:cNvSpPr txBox="1"/>
          <p:nvPr/>
        </p:nvSpPr>
        <p:spPr>
          <a:xfrm>
            <a:off x="11506202" y="6519009"/>
            <a:ext cx="685800" cy="206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000000"/>
                </a:solidFill>
                <a:latin typeface="Arial"/>
                <a:ea typeface="Arial"/>
                <a:cs typeface="Arial"/>
                <a:sym typeface="Arial"/>
              </a:rPr>
              <a:t>19</a:t>
            </a:fld>
            <a:endParaRPr sz="1050" b="0" i="0" u="none" strike="noStrike" cap="none">
              <a:solidFill>
                <a:srgbClr val="000000"/>
              </a:solidFill>
              <a:latin typeface="Arial"/>
              <a:ea typeface="Arial"/>
              <a:cs typeface="Arial"/>
              <a:sym typeface="Arial"/>
            </a:endParaRPr>
          </a:p>
        </p:txBody>
      </p:sp>
      <p:sp>
        <p:nvSpPr>
          <p:cNvPr id="301" name="Google Shape;301;p43"/>
          <p:cNvSpPr/>
          <p:nvPr/>
        </p:nvSpPr>
        <p:spPr>
          <a:xfrm>
            <a:off x="3583900" y="414125"/>
            <a:ext cx="8103900" cy="5235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None/>
            </a:pPr>
            <a:r>
              <a:rPr lang="en-US" sz="1800" b="1">
                <a:solidFill>
                  <a:schemeClr val="dk1"/>
                </a:solidFill>
                <a:latin typeface="Helvetica Neue"/>
                <a:ea typeface="Helvetica Neue"/>
                <a:cs typeface="Helvetica Neue"/>
                <a:sym typeface="Helvetica Neue"/>
              </a:rPr>
              <a:t>3) Relación existe entre el Precio y las Características de los inmuebles </a:t>
            </a:r>
            <a:endParaRPr sz="1800">
              <a:solidFill>
                <a:schemeClr val="dk1"/>
              </a:solidFill>
              <a:latin typeface="Helvetica Neue Light"/>
              <a:ea typeface="Helvetica Neue Light"/>
              <a:cs typeface="Helvetica Neue Light"/>
              <a:sym typeface="Helvetica Neue Light"/>
            </a:endParaRPr>
          </a:p>
          <a:p>
            <a:pPr marL="0" lvl="0" indent="0" algn="l" rtl="0">
              <a:spcBef>
                <a:spcPts val="0"/>
              </a:spcBef>
              <a:spcAft>
                <a:spcPts val="0"/>
              </a:spcAft>
              <a:buNone/>
            </a:pPr>
            <a:endParaRPr sz="1800" b="1">
              <a:solidFill>
                <a:schemeClr val="dk1"/>
              </a:solidFill>
              <a:latin typeface="Helvetica Neue"/>
              <a:ea typeface="Helvetica Neue"/>
              <a:cs typeface="Helvetica Neue"/>
              <a:sym typeface="Helvetica Neue"/>
            </a:endParaRPr>
          </a:p>
          <a:p>
            <a:pPr marL="457200" lvl="0" indent="-342900" algn="l" rtl="0">
              <a:lnSpc>
                <a:spcPct val="135714"/>
              </a:lnSpc>
              <a:spcBef>
                <a:spcPts val="0"/>
              </a:spcBef>
              <a:spcAft>
                <a:spcPts val="0"/>
              </a:spcAft>
              <a:buClr>
                <a:schemeClr val="dk1"/>
              </a:buClr>
              <a:buSzPts val="1800"/>
              <a:buFont typeface="Helvetica Neue Light"/>
              <a:buChar char="▪"/>
            </a:pPr>
            <a:r>
              <a:rPr lang="en-US" u="sng">
                <a:solidFill>
                  <a:schemeClr val="dk1"/>
                </a:solidFill>
                <a:latin typeface="DM Sans"/>
                <a:ea typeface="DM Sans"/>
                <a:cs typeface="DM Sans"/>
                <a:sym typeface="DM Sans"/>
              </a:rPr>
              <a:t>Relación Precio/Tamaño</a:t>
            </a:r>
            <a:r>
              <a:rPr lang="en-US" b="1">
                <a:solidFill>
                  <a:schemeClr val="dk1"/>
                </a:solidFill>
                <a:latin typeface="DM Sans"/>
                <a:ea typeface="DM Sans"/>
                <a:cs typeface="DM Sans"/>
                <a:sym typeface="DM Sans"/>
              </a:rPr>
              <a:t>: </a:t>
            </a:r>
            <a:r>
              <a:rPr lang="en-US">
                <a:solidFill>
                  <a:schemeClr val="dk1"/>
                </a:solidFill>
                <a:latin typeface="DM Sans"/>
                <a:ea typeface="DM Sans"/>
                <a:cs typeface="DM Sans"/>
                <a:sym typeface="DM Sans"/>
              </a:rPr>
              <a:t>Existe una </a:t>
            </a:r>
            <a:r>
              <a:rPr lang="en-US" b="1">
                <a:solidFill>
                  <a:schemeClr val="dk1"/>
                </a:solidFill>
                <a:latin typeface="DM Sans"/>
                <a:ea typeface="DM Sans"/>
                <a:cs typeface="DM Sans"/>
                <a:sym typeface="DM Sans"/>
              </a:rPr>
              <a:t>correlación positiva considerable </a:t>
            </a:r>
            <a:r>
              <a:rPr lang="en-US">
                <a:solidFill>
                  <a:schemeClr val="dk1"/>
                </a:solidFill>
                <a:latin typeface="DM Sans"/>
                <a:ea typeface="DM Sans"/>
                <a:cs typeface="DM Sans"/>
                <a:sym typeface="DM Sans"/>
              </a:rPr>
              <a:t>entre los precios de las viviendas y los metros cuadrados habitables como era de esperarse. Es decir </a:t>
            </a:r>
            <a:r>
              <a:rPr lang="en-US" b="1">
                <a:solidFill>
                  <a:schemeClr val="dk1"/>
                </a:solidFill>
                <a:latin typeface="DM Sans"/>
                <a:ea typeface="DM Sans"/>
                <a:cs typeface="DM Sans"/>
                <a:sym typeface="DM Sans"/>
              </a:rPr>
              <a:t>a mayor cantidad de metros cuadrados habitables mayor es el precio</a:t>
            </a:r>
            <a:r>
              <a:rPr lang="en-US">
                <a:solidFill>
                  <a:schemeClr val="dk1"/>
                </a:solidFill>
                <a:latin typeface="DM Sans"/>
                <a:ea typeface="DM Sans"/>
                <a:cs typeface="DM Sans"/>
                <a:sym typeface="DM Sans"/>
              </a:rPr>
              <a:t> de la vivienda.</a:t>
            </a:r>
            <a:endParaRPr>
              <a:solidFill>
                <a:schemeClr val="dk1"/>
              </a:solidFill>
              <a:latin typeface="DM Sans"/>
              <a:ea typeface="DM Sans"/>
              <a:cs typeface="DM Sans"/>
              <a:sym typeface="DM Sans"/>
            </a:endParaRPr>
          </a:p>
          <a:p>
            <a:pPr marL="457200" lvl="0" indent="0" algn="l" rtl="0">
              <a:lnSpc>
                <a:spcPct val="135714"/>
              </a:lnSpc>
              <a:spcBef>
                <a:spcPts val="0"/>
              </a:spcBef>
              <a:spcAft>
                <a:spcPts val="0"/>
              </a:spcAft>
              <a:buNone/>
            </a:pPr>
            <a:endParaRPr>
              <a:solidFill>
                <a:schemeClr val="dk1"/>
              </a:solidFill>
              <a:latin typeface="DM Sans"/>
              <a:ea typeface="DM Sans"/>
              <a:cs typeface="DM Sans"/>
              <a:sym typeface="DM Sans"/>
            </a:endParaRPr>
          </a:p>
          <a:p>
            <a:pPr marL="457200" lvl="0" indent="-317500" algn="l" rtl="0">
              <a:lnSpc>
                <a:spcPct val="135714"/>
              </a:lnSpc>
              <a:spcBef>
                <a:spcPts val="0"/>
              </a:spcBef>
              <a:spcAft>
                <a:spcPts val="0"/>
              </a:spcAft>
              <a:buClr>
                <a:schemeClr val="dk1"/>
              </a:buClr>
              <a:buSzPts val="1400"/>
              <a:buFont typeface="DM Sans"/>
              <a:buChar char="▪"/>
            </a:pPr>
            <a:r>
              <a:rPr lang="en-US" u="sng">
                <a:solidFill>
                  <a:schemeClr val="dk1"/>
                </a:solidFill>
                <a:latin typeface="DM Sans"/>
                <a:ea typeface="DM Sans"/>
                <a:cs typeface="DM Sans"/>
                <a:sym typeface="DM Sans"/>
              </a:rPr>
              <a:t>Relación Precio/Condición</a:t>
            </a:r>
            <a:r>
              <a:rPr lang="en-US" b="1">
                <a:solidFill>
                  <a:schemeClr val="dk1"/>
                </a:solidFill>
                <a:latin typeface="DM Sans"/>
                <a:ea typeface="DM Sans"/>
                <a:cs typeface="DM Sans"/>
                <a:sym typeface="DM Sans"/>
              </a:rPr>
              <a:t>: </a:t>
            </a:r>
            <a:r>
              <a:rPr lang="en-US">
                <a:solidFill>
                  <a:schemeClr val="dk1"/>
                </a:solidFill>
                <a:latin typeface="DM Sans"/>
                <a:ea typeface="DM Sans"/>
                <a:cs typeface="DM Sans"/>
                <a:sym typeface="DM Sans"/>
              </a:rPr>
              <a:t>Del análisis efectuado podemos</a:t>
            </a:r>
            <a:r>
              <a:rPr lang="en-US" b="1">
                <a:solidFill>
                  <a:schemeClr val="dk1"/>
                </a:solidFill>
                <a:latin typeface="DM Sans"/>
                <a:ea typeface="DM Sans"/>
                <a:cs typeface="DM Sans"/>
                <a:sym typeface="DM Sans"/>
              </a:rPr>
              <a:t> </a:t>
            </a:r>
            <a:r>
              <a:rPr lang="en-US">
                <a:solidFill>
                  <a:schemeClr val="dk1"/>
                </a:solidFill>
                <a:latin typeface="DM Sans"/>
                <a:ea typeface="DM Sans"/>
                <a:cs typeface="DM Sans"/>
                <a:sym typeface="DM Sans"/>
              </a:rPr>
              <a:t>confirmar que </a:t>
            </a:r>
            <a:r>
              <a:rPr lang="en-US" b="1">
                <a:solidFill>
                  <a:schemeClr val="dk1"/>
                </a:solidFill>
                <a:latin typeface="DM Sans"/>
                <a:ea typeface="DM Sans"/>
                <a:cs typeface="DM Sans"/>
                <a:sym typeface="DM Sans"/>
              </a:rPr>
              <a:t>a mejor condición de la vivienda mayor es el precio</a:t>
            </a:r>
            <a:r>
              <a:rPr lang="en-US">
                <a:solidFill>
                  <a:schemeClr val="dk1"/>
                </a:solidFill>
                <a:latin typeface="DM Sans"/>
                <a:ea typeface="DM Sans"/>
                <a:cs typeface="DM Sans"/>
                <a:sym typeface="DM Sans"/>
              </a:rPr>
              <a:t> promedio de la misma. No obstante se observa que no existen diferencias significativas entre los precios de las viviendas de </a:t>
            </a:r>
            <a:r>
              <a:rPr lang="en-US" b="1">
                <a:solidFill>
                  <a:schemeClr val="dk1"/>
                </a:solidFill>
                <a:latin typeface="DM Sans"/>
                <a:ea typeface="DM Sans"/>
                <a:cs typeface="DM Sans"/>
                <a:sym typeface="DM Sans"/>
              </a:rPr>
              <a:t>condición 1 y 2 cuyos precios promedio rondan los 300.000 </a:t>
            </a:r>
            <a:r>
              <a:rPr lang="en-US">
                <a:solidFill>
                  <a:schemeClr val="dk1"/>
                </a:solidFill>
                <a:latin typeface="DM Sans"/>
                <a:ea typeface="DM Sans"/>
                <a:cs typeface="DM Sans"/>
                <a:sym typeface="DM Sans"/>
              </a:rPr>
              <a:t>y entre las propiedades de </a:t>
            </a:r>
            <a:r>
              <a:rPr lang="en-US" b="1">
                <a:solidFill>
                  <a:schemeClr val="dk1"/>
                </a:solidFill>
                <a:latin typeface="DM Sans"/>
                <a:ea typeface="DM Sans"/>
                <a:cs typeface="DM Sans"/>
                <a:sym typeface="DM Sans"/>
              </a:rPr>
              <a:t>condición 3 y 4 </a:t>
            </a:r>
            <a:r>
              <a:rPr lang="en-US">
                <a:solidFill>
                  <a:schemeClr val="dk1"/>
                </a:solidFill>
                <a:latin typeface="DM Sans"/>
                <a:ea typeface="DM Sans"/>
                <a:cs typeface="DM Sans"/>
                <a:sym typeface="DM Sans"/>
              </a:rPr>
              <a:t>respectivamente cuyos precios promedios se observan apenas </a:t>
            </a:r>
            <a:r>
              <a:rPr lang="en-US" b="1">
                <a:solidFill>
                  <a:schemeClr val="dk1"/>
                </a:solidFill>
                <a:latin typeface="DM Sans"/>
                <a:ea typeface="DM Sans"/>
                <a:cs typeface="DM Sans"/>
                <a:sym typeface="DM Sans"/>
              </a:rPr>
              <a:t>por debajo de los 500.000.</a:t>
            </a:r>
            <a:endParaRPr sz="1050" b="1">
              <a:solidFill>
                <a:srgbClr val="D4D4D4"/>
              </a:solidFill>
              <a:highlight>
                <a:srgbClr val="1E1E1E"/>
              </a:highlight>
              <a:latin typeface="Courier New"/>
              <a:ea typeface="Courier New"/>
              <a:cs typeface="Courier New"/>
              <a:sym typeface="Courier New"/>
            </a:endParaRPr>
          </a:p>
          <a:p>
            <a:pPr marL="457200" lvl="0" indent="0" algn="l" rtl="0">
              <a:spcBef>
                <a:spcPts val="0"/>
              </a:spcBef>
              <a:spcAft>
                <a:spcPts val="0"/>
              </a:spcAft>
              <a:buNone/>
            </a:pPr>
            <a:endParaRPr sz="1300">
              <a:solidFill>
                <a:schemeClr val="dk1"/>
              </a:solidFill>
              <a:latin typeface="DM Sans"/>
              <a:ea typeface="DM Sans"/>
              <a:cs typeface="DM Sans"/>
              <a:sym typeface="DM Sans"/>
            </a:endParaRPr>
          </a:p>
          <a:p>
            <a:pPr marL="457200" lvl="0" indent="-317500" algn="l" rtl="0">
              <a:lnSpc>
                <a:spcPct val="135714"/>
              </a:lnSpc>
              <a:spcBef>
                <a:spcPts val="0"/>
              </a:spcBef>
              <a:spcAft>
                <a:spcPts val="0"/>
              </a:spcAft>
              <a:buClr>
                <a:schemeClr val="dk1"/>
              </a:buClr>
              <a:buSzPts val="1400"/>
              <a:buFont typeface="DM Sans"/>
              <a:buChar char="▪"/>
            </a:pPr>
            <a:r>
              <a:rPr lang="en-US" u="sng">
                <a:solidFill>
                  <a:schemeClr val="dk1"/>
                </a:solidFill>
                <a:latin typeface="DM Sans"/>
                <a:ea typeface="DM Sans"/>
                <a:cs typeface="DM Sans"/>
                <a:sym typeface="DM Sans"/>
              </a:rPr>
              <a:t>Relación Precio/Renovación/Pisos:</a:t>
            </a:r>
            <a:r>
              <a:rPr lang="en-US">
                <a:solidFill>
                  <a:schemeClr val="dk1"/>
                </a:solidFill>
                <a:latin typeface="DM Sans"/>
                <a:ea typeface="DM Sans"/>
                <a:cs typeface="DM Sans"/>
                <a:sym typeface="DM Sans"/>
              </a:rPr>
              <a:t> Del estudio exploratorio concluimos que  </a:t>
            </a:r>
            <a:r>
              <a:rPr lang="en-US" b="1">
                <a:solidFill>
                  <a:schemeClr val="dk1"/>
                </a:solidFill>
                <a:latin typeface="DM Sans"/>
                <a:ea typeface="DM Sans"/>
                <a:cs typeface="DM Sans"/>
                <a:sym typeface="DM Sans"/>
              </a:rPr>
              <a:t>40.5% de las propiedades fueron renovadas </a:t>
            </a:r>
            <a:r>
              <a:rPr lang="en-US">
                <a:solidFill>
                  <a:schemeClr val="dk1"/>
                </a:solidFill>
                <a:latin typeface="DM Sans"/>
                <a:ea typeface="DM Sans"/>
                <a:cs typeface="DM Sans"/>
                <a:sym typeface="DM Sans"/>
              </a:rPr>
              <a:t>y que el hecho que la vivienda haya sufrido</a:t>
            </a:r>
            <a:r>
              <a:rPr lang="en-US" b="1">
                <a:solidFill>
                  <a:schemeClr val="dk1"/>
                </a:solidFill>
                <a:latin typeface="DM Sans"/>
                <a:ea typeface="DM Sans"/>
                <a:cs typeface="DM Sans"/>
                <a:sym typeface="DM Sans"/>
              </a:rPr>
              <a:t> una reforma no implica un cambio significativo en el precio </a:t>
            </a:r>
            <a:r>
              <a:rPr lang="en-US">
                <a:solidFill>
                  <a:schemeClr val="dk1"/>
                </a:solidFill>
                <a:latin typeface="DM Sans"/>
                <a:ea typeface="DM Sans"/>
                <a:cs typeface="DM Sans"/>
                <a:sym typeface="DM Sans"/>
              </a:rPr>
              <a:t>de la misma. Por ultimo se desprende que </a:t>
            </a:r>
            <a:r>
              <a:rPr lang="en-US" b="1">
                <a:solidFill>
                  <a:schemeClr val="dk1"/>
                </a:solidFill>
                <a:latin typeface="DM Sans"/>
                <a:ea typeface="DM Sans"/>
                <a:cs typeface="DM Sans"/>
                <a:sym typeface="DM Sans"/>
              </a:rPr>
              <a:t>los precios de las viviendas no son significativamente mayores a medida que la vivienda cuenta con mayor cantidad de pisos. </a:t>
            </a:r>
            <a:endParaRPr>
              <a:solidFill>
                <a:schemeClr val="dk1"/>
              </a:solidFill>
              <a:latin typeface="DM Sans"/>
              <a:ea typeface="DM Sans"/>
              <a:cs typeface="DM Sans"/>
              <a:sym typeface="DM Sans"/>
            </a:endParaRPr>
          </a:p>
        </p:txBody>
      </p:sp>
      <p:sp>
        <p:nvSpPr>
          <p:cNvPr id="302" name="Google Shape;302;p43"/>
          <p:cNvSpPr txBox="1"/>
          <p:nvPr/>
        </p:nvSpPr>
        <p:spPr>
          <a:xfrm>
            <a:off x="384622" y="2758763"/>
            <a:ext cx="2718000" cy="66510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Clr>
                <a:srgbClr val="000000"/>
              </a:buClr>
              <a:buSzPts val="2800"/>
              <a:buFont typeface="Arial"/>
              <a:buNone/>
            </a:pPr>
            <a:r>
              <a:rPr lang="en-US" sz="2800"/>
              <a:t>INSIGHTS Y</a:t>
            </a:r>
            <a:endParaRPr sz="2800" b="0" i="0" u="none" strike="noStrike" cap="none">
              <a:solidFill>
                <a:srgbClr val="000000"/>
              </a:solidFill>
              <a:latin typeface="Arial"/>
              <a:ea typeface="Arial"/>
              <a:cs typeface="Arial"/>
              <a:sym typeface="Arial"/>
            </a:endParaRPr>
          </a:p>
          <a:p>
            <a:pPr marL="0" marR="0" lvl="0" indent="0" algn="l" rtl="0">
              <a:lnSpc>
                <a:spcPct val="80000"/>
              </a:lnSpc>
              <a:spcBef>
                <a:spcPts val="0"/>
              </a:spcBef>
              <a:spcAft>
                <a:spcPts val="0"/>
              </a:spcAft>
              <a:buClr>
                <a:srgbClr val="000000"/>
              </a:buClr>
              <a:buSzPts val="2800"/>
              <a:buFont typeface="Arial"/>
              <a:buNone/>
            </a:pPr>
            <a:r>
              <a:rPr lang="en-US" sz="2600" b="1"/>
              <a:t>CONCLUSIONES</a:t>
            </a:r>
            <a:endParaRPr sz="2600" b="1"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theme/theme1.xml><?xml version="1.0" encoding="utf-8"?>
<a:theme xmlns:a="http://schemas.openxmlformats.org/drawingml/2006/main" name="1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Pain Points Palete">
      <a:dk1>
        <a:srgbClr val="000000"/>
      </a:dk1>
      <a:lt1>
        <a:srgbClr val="FFFFFF"/>
      </a:lt1>
      <a:dk2>
        <a:srgbClr val="212745"/>
      </a:dk2>
      <a:lt2>
        <a:srgbClr val="B4DCFA"/>
      </a:lt2>
      <a:accent1>
        <a:srgbClr val="00F3FF"/>
      </a:accent1>
      <a:accent2>
        <a:srgbClr val="A100FF"/>
      </a:accent2>
      <a:accent3>
        <a:srgbClr val="380089"/>
      </a:accent3>
      <a:accent4>
        <a:srgbClr val="00D700"/>
      </a:accent4>
      <a:accent5>
        <a:srgbClr val="FF9500"/>
      </a:accent5>
      <a:accent6>
        <a:srgbClr val="008EFF"/>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1814</Words>
  <Application>Microsoft Office PowerPoint</Application>
  <PresentationFormat>Panorámica</PresentationFormat>
  <Paragraphs>167</Paragraphs>
  <Slides>19</Slides>
  <Notes>19</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19</vt:i4>
      </vt:variant>
    </vt:vector>
  </HeadingPairs>
  <TitlesOfParts>
    <vt:vector size="28" baseType="lpstr">
      <vt:lpstr>Helvetica Neue Light</vt:lpstr>
      <vt:lpstr>Arial</vt:lpstr>
      <vt:lpstr>Anton</vt:lpstr>
      <vt:lpstr>Helvetica Neue</vt:lpstr>
      <vt:lpstr>Calibri</vt:lpstr>
      <vt:lpstr>Courier New</vt:lpstr>
      <vt:lpstr>DM Sans</vt:lpstr>
      <vt:lpstr>1_Office Theme</vt:lpstr>
      <vt:lpstr>3_Office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Sofia Medici</dc:creator>
  <cp:lastModifiedBy>Cuenta Microsoft</cp:lastModifiedBy>
  <cp:revision>1</cp:revision>
  <dcterms:modified xsi:type="dcterms:W3CDTF">2023-08-03T22:31:27Z</dcterms:modified>
</cp:coreProperties>
</file>